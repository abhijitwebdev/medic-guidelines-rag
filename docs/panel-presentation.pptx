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sentence that frames everything: this answers only from official government guidelines, with citations, and refuses everything else. Say up front that the interesting engineering is not the retrieval - it is the three gates that decide when NOT to answer. That sets up the whole talk. Target 12 minutes plus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is that the product requirement is inverted: a refusal is a correct output here, not a failure. If asked 'why not just fine-tune a model' - because a fine-tuned model still cannot show you the page it got the dose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If the panel remembers one thing, it should be this line. Gate 1 before retrieval, Gate 2 after retrieval, Gate 3 after generation - so each one can only be bypassed by breaking a different part of the system. Mention that the trace records which gate decided, which is what makes the behaviour auditable rather than anecdotal.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on this slide. The only points that matter: the manifest pins the corpus by hash, and retrieval later needs BOTH outputs to agree. If asked why BM25 is local - it is cheap, it needs the chunk text anyway, and keeping it in process means a missing ingest is a loud startup error rather than a quiet degradation at query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spine once, naming each stage, no detail. Then make the three structural points from the right-hand panel. If the panel wants to go deep anywhere, it will be Gate 2 or Gate 3 - the next four slides cover those, so defer here and keep moving.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escalate-never-clear rule is the single design decision on this slide. It is a general principle worth stating as such: a fast path that can approve is a fast path that can be tricked, so the fast path is only allowed to reject. Slide 15 has a real bug this gate produced - flag that you will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 question on why hybrid rather than dense-only. Answer: the corpus is full of exact tokens - drug names, dose units, section numbers - where lexical matching is strong, and HyDE helps precisely where the user's wording does not match the guideline register. Slide 15 has the retrieval hit 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but it earns the next one. The 4-6 rung is not decoration: it is the definition the corrective band keys off. If someone asks whether an LLM can score reliably on an absolute scale, be honest - it is the weakest link, it tends toward the endpoints, and slide 16 lists it as an open issue.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invariant is the line to deliver slowly: a corrective pass buys a second attempt at the bar, never a lower bar. The moment the band becomes a cheaper way past the gate, it has inverted the gate's purpose. Slide 15 has a real case where this nearly leaked - do not hide it, lead with it there.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second-strongest slide. The framing to use: checks 1, 3 and 4 are judgement, check 2 is arithmetic - and arithmetic is the one an LLM cannot talk its way past.</a:t>
            </a:r>
          </a:p>
          <a:p/>
          <a:p>
            <a:r>
              <a:t>Expect 'what if the number is written differently'. Separators are canonicalised, so an answer's 10,000 matches a passage's 10000, and an enumeration like '1,2' is not joined into 12. What still mis-flags is OCR glyph damage - the dengue transcript reads 1ooo0 - and that is deliberate, not an oversight: a false flag costs a refusal, which is safe, while a false match lets a fabricated dose through. Mapping letters onto digits would buy the second to save the first. Slide 16 carries it as a known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defensible design decision in the project and panels tend to probe it. Have the contrast memorised. The follow-up question is usually 'who decides where the line is' - answer: the classifier prompt names four concrete failure modes rather than a vague notion of safety, and the eval set has dedicated safety cases that must score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'what happens when OpenAI is down', which a panel will ask. The interesting nuance is the cache rule: failing closed is easy, but caching a fail-closed refusal would convert a transient outage into a persistent one. That distinction is worth calling out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this slide because it is real engineering rather than a library call. The point to land: the pipeline did not silently produce garbage from an unreadable file - it refused, and the fix is reproducible and hash-pinned. Saying out loud that dengue citations are noisier is a credibility move, not a weakness.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the 100%. Volunteering the non-determinism before the panel finds it is worth more than the number itself. If asked what would make these trustworthy: repeated runs with a majority-vote judge, and a larger case set - both on the next slide.</a:t>
            </a:r>
          </a:p>
          <a:p/>
          <a:p>
            <a:r>
              <a:t>If anyone presses on the threshold, volunteer this too: 5.5 is the midpoint of a band spanning 0.5 to 10.0, because the calibration cases separate perfectly - answerable all scored 10.0, unanswerable all 0.0. So the data proves the two classes are separable but does not pin the number anywhere in that range. The near-miss cases scoring 4.0 are the only data that would; adding two of them moves the calibrated threshold to 7.5.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a project that was tested from one that was measured. Present the left box as a resolved finding and the right box as a known open risk you can characterise precisely. Panels reward a candidate who brings their own strongest counterexample. If asked what you would do about the leak: tighten the band, or require the corrective pass to improve by a margin rather than merely cross the 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honest list, not on the 100%. It reads as command of the system rather than salesmanship. Anticipated questions: why not fine-tune (cannot cite a page); why not a bigger model (the gates, not the model, are what make it safe, and a better model would still need them); how do you know the refusals are not just over-refusal (false refusal rate, plus the 91% run where exactly that bug was caught); what about latency (six completion calls plus two embeddings per answered question, and the response cache in front skips all of them on a hit).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2286000"/>
          </a:xfrm>
          <a:prstGeom prst="round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777240"/>
            <a:ext cx="10058400" cy="640080"/>
          </a:xfrm>
          <a:prstGeom prst="rect">
            <a:avLst/>
          </a:prstGeom>
          <a:noFill/>
        </p:spPr>
        <p:txBody>
          <a:bodyPr wrap="square">
            <a:spAutoFit/>
          </a:bodyPr>
          <a:lstStyle/>
          <a:p>
            <a:pPr>
              <a:spcBef>
                <a:spcPts val="0"/>
              </a:spcBef>
              <a:spcAft>
                <a:spcPts val="1000"/>
              </a:spcAft>
            </a:pPr>
            <a:r>
              <a:rPr sz="1300" b="1" i="0">
                <a:solidFill>
                  <a:srgbClr val="1B6AC9"/>
                </a:solidFill>
                <a:latin typeface="Calibri"/>
              </a:rPr>
              <a:t>MEDICAL GUIDELINE ASSISTANT</a:t>
            </a:r>
          </a:p>
        </p:txBody>
      </p:sp>
      <p:sp>
        <p:nvSpPr>
          <p:cNvPr id="4" name="TextBox 3"/>
          <p:cNvSpPr txBox="1"/>
          <p:nvPr/>
        </p:nvSpPr>
        <p:spPr>
          <a:xfrm>
            <a:off x="685800" y="1143000"/>
            <a:ext cx="10424160" cy="1097280"/>
          </a:xfrm>
          <a:prstGeom prst="rect">
            <a:avLst/>
          </a:prstGeom>
          <a:noFill/>
        </p:spPr>
        <p:txBody>
          <a:bodyPr wrap="square">
            <a:spAutoFit/>
          </a:bodyPr>
          <a:lstStyle/>
          <a:p>
            <a:pPr>
              <a:spcBef>
                <a:spcPts val="0"/>
              </a:spcBef>
              <a:spcAft>
                <a:spcPts val="1000"/>
              </a:spcAft>
            </a:pPr>
            <a:r>
              <a:rPr sz="4000" b="1" i="0">
                <a:solidFill>
                  <a:srgbClr val="1F2933"/>
                </a:solidFill>
                <a:latin typeface="Calibri"/>
              </a:rPr>
              <a:t>An assistant that knows when to refuse</a:t>
            </a:r>
          </a:p>
        </p:txBody>
      </p:sp>
      <p:sp>
        <p:nvSpPr>
          <p:cNvPr id="5" name="TextBox 4"/>
          <p:cNvSpPr txBox="1"/>
          <p:nvPr/>
        </p:nvSpPr>
        <p:spPr>
          <a:xfrm>
            <a:off x="685800" y="2697480"/>
            <a:ext cx="9692640" cy="1463040"/>
          </a:xfrm>
          <a:prstGeom prst="rect">
            <a:avLst/>
          </a:prstGeom>
          <a:noFill/>
        </p:spPr>
        <p:txBody>
          <a:bodyPr wrap="square">
            <a:spAutoFit/>
          </a:bodyPr>
          <a:lstStyle/>
          <a:p>
            <a:pPr>
              <a:spcBef>
                <a:spcPts val="0"/>
              </a:spcBef>
              <a:spcAft>
                <a:spcPts val="200"/>
              </a:spcAft>
            </a:pPr>
            <a:r>
              <a:rPr sz="1900" b="0" i="0">
                <a:solidFill>
                  <a:srgbClr val="5A6773"/>
                </a:solidFill>
                <a:latin typeface="Calibri"/>
              </a:rPr>
              <a:t>Retrieval-augmented question answering over 21 official MOHFW Standard Treatment</a:t>
            </a:r>
          </a:p>
          <a:p>
            <a:pPr>
              <a:spcBef>
                <a:spcPts val="0"/>
              </a:spcBef>
              <a:spcAft>
                <a:spcPts val="1000"/>
              </a:spcAft>
            </a:pPr>
            <a:r>
              <a:rPr sz="1900" b="0" i="0">
                <a:solidFill>
                  <a:srgbClr val="5A6773"/>
                </a:solidFill>
                <a:latin typeface="Calibri"/>
              </a:rPr>
              <a:t>Guidelines — with citations, and a safe refusal for everything else.</a:t>
            </a:r>
          </a:p>
        </p:txBody>
      </p:sp>
      <p:sp>
        <p:nvSpPr>
          <p:cNvPr id="6" name="TextBox 5"/>
          <p:cNvSpPr txBox="1"/>
          <p:nvPr/>
        </p:nvSpPr>
        <p:spPr>
          <a:xfrm>
            <a:off x="685800" y="5029200"/>
            <a:ext cx="10058400" cy="1280160"/>
          </a:xfrm>
          <a:prstGeom prst="rect">
            <a:avLst/>
          </a:prstGeom>
          <a:noFill/>
        </p:spPr>
        <p:txBody>
          <a:bodyPr wrap="square">
            <a:spAutoFit/>
          </a:bodyPr>
          <a:lstStyle/>
          <a:p>
            <a:pPr>
              <a:spcBef>
                <a:spcPts val="0"/>
              </a:spcBef>
              <a:spcAft>
                <a:spcPts val="300"/>
              </a:spcAft>
            </a:pPr>
            <a:r>
              <a:rPr sz="1700" b="1" i="0">
                <a:solidFill>
                  <a:srgbClr val="1F2933"/>
                </a:solidFill>
                <a:latin typeface="Calibri"/>
              </a:rPr>
              <a:t>Abhijit</a:t>
            </a:r>
          </a:p>
          <a:p>
            <a:pPr>
              <a:spcBef>
                <a:spcPts val="0"/>
              </a:spcBef>
              <a:spcAft>
                <a:spcPts val="1000"/>
              </a:spcAft>
            </a:pPr>
            <a:r>
              <a:rPr sz="1500" b="0" i="0">
                <a:solidFill>
                  <a:srgbClr val="5A6773"/>
                </a:solidFill>
                <a:latin typeface="Calibri"/>
              </a:rPr>
              <a:t>Cohort project review  |  September 2026</a:t>
            </a:r>
          </a:p>
        </p:txBody>
      </p:sp>
      <p:sp>
        <p:nvSpPr>
          <p:cNvPr id="7" name="TextBox 6"/>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PROBLEM</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The failure that matters is a confident wrong dose</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91640"/>
            <a:ext cx="5486400" cy="4206240"/>
          </a:xfrm>
          <a:prstGeom prst="rect">
            <a:avLst/>
          </a:prstGeom>
          <a:noFill/>
        </p:spPr>
        <p:txBody>
          <a:bodyPr wrap="square">
            <a:spAutoFit/>
          </a:bodyPr>
          <a:lstStyle/>
          <a:p>
            <a:pPr>
              <a:spcBef>
                <a:spcPts val="0"/>
              </a:spcBef>
              <a:spcAft>
                <a:spcPts val="1400"/>
              </a:spcAft>
            </a:pPr>
            <a:r>
              <a:rPr sz="1700" b="0" i="0">
                <a:solidFill>
                  <a:srgbClr val="1F2933"/>
                </a:solidFill>
                <a:latin typeface="Calibri"/>
              </a:rPr>
              <a:t>Ask any general assistant a treatment question and you get a fluent, well-organised, unverifiable answer.</a:t>
            </a:r>
          </a:p>
          <a:p>
            <a:pPr>
              <a:spcBef>
                <a:spcPts val="0"/>
              </a:spcBef>
              <a:spcAft>
                <a:spcPts val="1400"/>
              </a:spcAft>
            </a:pPr>
            <a:r>
              <a:rPr sz="1700" b="0" i="0">
                <a:solidFill>
                  <a:srgbClr val="1F2933"/>
                </a:solidFill>
                <a:latin typeface="Calibri"/>
              </a:rPr>
              <a:t>In a clinical-reference setting the dangerous output is not a bad writing style. It is a plausible number with no provenance.</a:t>
            </a:r>
          </a:p>
          <a:p>
            <a:pPr>
              <a:spcBef>
                <a:spcPts val="0"/>
              </a:spcBef>
              <a:spcAft>
                <a:spcPts val="600"/>
              </a:spcAft>
            </a:pPr>
            <a:r>
              <a:rPr sz="1700" b="1" i="0">
                <a:solidFill>
                  <a:srgbClr val="1F2933"/>
                </a:solidFill>
                <a:latin typeface="Calibri"/>
              </a:rPr>
              <a:t>So the requirement inverts the usual one:</a:t>
            </a:r>
          </a:p>
          <a:p>
            <a:pPr>
              <a:spcBef>
                <a:spcPts val="0"/>
              </a:spcBef>
              <a:spcAft>
                <a:spcPts val="1000"/>
              </a:spcAft>
            </a:pPr>
            <a:r>
              <a:rPr sz="1700" b="0" i="1">
                <a:solidFill>
                  <a:srgbClr val="1B6AC9"/>
                </a:solidFill>
                <a:latin typeface="Calibri"/>
              </a:rPr>
              <a:t>every claim traceable to an official document, or no answer at all.</a:t>
            </a:r>
          </a:p>
        </p:txBody>
      </p:sp>
      <p:sp>
        <p:nvSpPr>
          <p:cNvPr id="6" name="Rounded Rectangle 5"/>
          <p:cNvSpPr/>
          <p:nvPr/>
        </p:nvSpPr>
        <p:spPr>
          <a:xfrm>
            <a:off x="6583680" y="1691640"/>
            <a:ext cx="4892040" cy="39319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0" y="1874519"/>
            <a:ext cx="4389120" cy="3566160"/>
          </a:xfrm>
          <a:prstGeom prst="rect">
            <a:avLst/>
          </a:prstGeom>
          <a:noFill/>
        </p:spPr>
        <p:txBody>
          <a:bodyPr wrap="square">
            <a:spAutoFit/>
          </a:bodyPr>
          <a:lstStyle/>
          <a:p>
            <a:pPr>
              <a:spcBef>
                <a:spcPts val="0"/>
              </a:spcBef>
              <a:spcAft>
                <a:spcPts val="1000"/>
              </a:spcAft>
            </a:pPr>
            <a:r>
              <a:rPr sz="1200" b="1" i="0">
                <a:solidFill>
                  <a:srgbClr val="1B6AC9"/>
                </a:solidFill>
                <a:latin typeface="Calibri"/>
              </a:rPr>
              <a:t>SCOPE</a:t>
            </a:r>
          </a:p>
          <a:p>
            <a:pPr>
              <a:spcBef>
                <a:spcPts val="0"/>
              </a:spcBef>
              <a:spcAft>
                <a:spcPts val="800"/>
              </a:spcAft>
            </a:pPr>
            <a:r>
              <a:rPr sz="1500" b="0" i="0">
                <a:solidFill>
                  <a:srgbClr val="1F2933"/>
                </a:solidFill>
                <a:latin typeface="Calibri"/>
              </a:rPr>
              <a:t>•  Reports what the guidelines say, with a citation to the document, section and page.</a:t>
            </a:r>
          </a:p>
          <a:p>
            <a:pPr>
              <a:spcBef>
                <a:spcPts val="0"/>
              </a:spcBef>
              <a:spcAft>
                <a:spcPts val="800"/>
              </a:spcAft>
            </a:pPr>
            <a:r>
              <a:rPr sz="1500" b="0" i="0">
                <a:solidFill>
                  <a:srgbClr val="1F2933"/>
                </a:solidFill>
                <a:latin typeface="Calibri"/>
              </a:rPr>
              <a:t>•  Refuses personalized advice, diagnosis, emergencies, and anything outside the corpus.</a:t>
            </a:r>
          </a:p>
          <a:p>
            <a:pPr>
              <a:spcBef>
                <a:spcPts val="0"/>
              </a:spcBef>
              <a:spcAft>
                <a:spcPts val="800"/>
              </a:spcAft>
            </a:pPr>
            <a:r>
              <a:rPr sz="1500" b="0" i="0">
                <a:solidFill>
                  <a:srgbClr val="1F2933"/>
                </a:solidFill>
                <a:latin typeface="Calibri"/>
              </a:rPr>
              <a:t>•  Never falls back to the open web — that would break the citations, the manifest and the provenance check all at once.</a:t>
            </a:r>
          </a:p>
          <a:p>
            <a:pPr>
              <a:spcBef>
                <a:spcPts val="0"/>
              </a:spcBef>
              <a:spcAft>
                <a:spcPts val="1000"/>
              </a:spcAft>
            </a:pPr>
            <a:r>
              <a:rPr sz="1500" b="0" i="0">
                <a:solidFill>
                  <a:srgbClr val="1F2933"/>
                </a:solidFill>
                <a:latin typeface="Calibri"/>
              </a:rPr>
              <a:t>•  Not a clinical decision tool. Every answer carries a standing disclaimer.</a:t>
            </a:r>
          </a:p>
        </p:txBody>
      </p:sp>
      <p:sp>
        <p:nvSpPr>
          <p:cNvPr id="8" name="TextBox 7"/>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CORE IDEA</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Three independent gates, each catching a different failure</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2148840"/>
            <a:ext cx="1371600" cy="105156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2933"/>
                </a:solidFill>
                <a:latin typeface="Calibri"/>
              </a:rPr>
              <a:t>Query</a:t>
            </a:r>
          </a:p>
        </p:txBody>
      </p:sp>
      <p:sp>
        <p:nvSpPr>
          <p:cNvPr id="6" name="Rounded Rectangle 5"/>
          <p:cNvSpPr/>
          <p:nvPr/>
        </p:nvSpPr>
        <p:spPr>
          <a:xfrm>
            <a:off x="2423160" y="2148840"/>
            <a:ext cx="2331720" cy="1051560"/>
          </a:xfrm>
          <a:prstGeom prst="roundRect">
            <a:avLst/>
          </a:prstGeom>
          <a:solidFill>
            <a:srgbClr val="FFFFFF"/>
          </a:solidFill>
          <a:ln w="25400">
            <a:solidFill>
              <a:srgbClr val="1B6A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6AC9"/>
                </a:solidFill>
                <a:latin typeface="Calibri"/>
              </a:rPr>
              <a:t>GATE 1</a:t>
            </a:r>
          </a:p>
          <a:p>
            <a:pPr algn="ctr"/>
            <a:r>
              <a:rPr sz="1600" b="0">
                <a:solidFill>
                  <a:srgbClr val="1B6AC9"/>
                </a:solidFill>
                <a:latin typeface="Calibri"/>
              </a:rPr>
              <a:t>intent</a:t>
            </a:r>
          </a:p>
        </p:txBody>
      </p:sp>
      <p:sp>
        <p:nvSpPr>
          <p:cNvPr id="7" name="Rounded Rectangle 6"/>
          <p:cNvSpPr/>
          <p:nvPr/>
        </p:nvSpPr>
        <p:spPr>
          <a:xfrm>
            <a:off x="5074920" y="2148840"/>
            <a:ext cx="2331720" cy="1051560"/>
          </a:xfrm>
          <a:prstGeom prst="roundRect">
            <a:avLst/>
          </a:prstGeom>
          <a:solidFill>
            <a:srgbClr val="FFFFFF"/>
          </a:solidFill>
          <a:ln w="25400">
            <a:solidFill>
              <a:srgbClr val="B57A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B57A1F"/>
                </a:solidFill>
                <a:latin typeface="Calibri"/>
              </a:rPr>
              <a:t>GATE 2</a:t>
            </a:r>
          </a:p>
          <a:p>
            <a:pPr algn="ctr"/>
            <a:r>
              <a:rPr sz="1600" b="0">
                <a:solidFill>
                  <a:srgbClr val="B57A1F"/>
                </a:solidFill>
                <a:latin typeface="Calibri"/>
              </a:rPr>
              <a:t>confidence</a:t>
            </a:r>
          </a:p>
        </p:txBody>
      </p:sp>
      <p:sp>
        <p:nvSpPr>
          <p:cNvPr id="8" name="Rounded Rectangle 7"/>
          <p:cNvSpPr/>
          <p:nvPr/>
        </p:nvSpPr>
        <p:spPr>
          <a:xfrm>
            <a:off x="7726679" y="2148840"/>
            <a:ext cx="2331720" cy="1051560"/>
          </a:xfrm>
          <a:prstGeom prst="roundRect">
            <a:avLst/>
          </a:prstGeom>
          <a:solidFill>
            <a:srgbClr val="FFFFFF"/>
          </a:solidFill>
          <a:ln w="2540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2F7D4F"/>
                </a:solidFill>
                <a:latin typeface="Calibri"/>
              </a:rPr>
              <a:t>GATE 3</a:t>
            </a:r>
          </a:p>
          <a:p>
            <a:pPr algn="ctr"/>
            <a:r>
              <a:rPr sz="1600" b="0">
                <a:solidFill>
                  <a:srgbClr val="2F7D4F"/>
                </a:solidFill>
                <a:latin typeface="Calibri"/>
              </a:rPr>
              <a:t>output</a:t>
            </a:r>
          </a:p>
        </p:txBody>
      </p:sp>
      <p:sp>
        <p:nvSpPr>
          <p:cNvPr id="9" name="Rounded Rectangle 8"/>
          <p:cNvSpPr/>
          <p:nvPr/>
        </p:nvSpPr>
        <p:spPr>
          <a:xfrm>
            <a:off x="10378440" y="2148840"/>
            <a:ext cx="1280160" cy="1051560"/>
          </a:xfrm>
          <a:prstGeom prst="roundRect">
            <a:avLst/>
          </a:prstGeom>
          <a:solidFill>
            <a:srgbClr val="ECF6EF"/>
          </a:solidFill>
          <a:ln w="1270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2F7D4F"/>
                </a:solidFill>
                <a:latin typeface="Calibri"/>
              </a:rPr>
              <a:t>Answer</a:t>
            </a:r>
          </a:p>
          <a:p>
            <a:pPr algn="ctr"/>
            <a:r>
              <a:rPr sz="1300" b="0">
                <a:solidFill>
                  <a:srgbClr val="2F7D4F"/>
                </a:solidFill>
                <a:latin typeface="Calibri"/>
              </a:rPr>
              <a:t>+ citations</a:t>
            </a:r>
          </a:p>
        </p:txBody>
      </p:sp>
      <p:sp>
        <p:nvSpPr>
          <p:cNvPr id="10" name="Right Arrow 9"/>
          <p:cNvSpPr/>
          <p:nvPr/>
        </p:nvSpPr>
        <p:spPr>
          <a:xfrm>
            <a:off x="2103120" y="2610612"/>
            <a:ext cx="219456"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ight Arrow 10"/>
          <p:cNvSpPr/>
          <p:nvPr/>
        </p:nvSpPr>
        <p:spPr>
          <a:xfrm>
            <a:off x="4754880" y="2610612"/>
            <a:ext cx="219456"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ight Arrow 11"/>
          <p:cNvSpPr/>
          <p:nvPr/>
        </p:nvSpPr>
        <p:spPr>
          <a:xfrm>
            <a:off x="7406640" y="2610612"/>
            <a:ext cx="219456"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ight Arrow 12"/>
          <p:cNvSpPr/>
          <p:nvPr/>
        </p:nvSpPr>
        <p:spPr>
          <a:xfrm>
            <a:off x="10058400" y="2610612"/>
            <a:ext cx="219456"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2423160" y="3520440"/>
            <a:ext cx="2331720" cy="868680"/>
          </a:xfrm>
          <a:prstGeom prst="round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5A6773"/>
                </a:solidFill>
                <a:latin typeface="Calibri"/>
              </a:rPr>
              <a:t>Stops questions that</a:t>
            </a:r>
          </a:p>
          <a:p>
            <a:pPr algn="ctr"/>
            <a:r>
              <a:rPr sz="1300" b="0">
                <a:solidFill>
                  <a:srgbClr val="5A6773"/>
                </a:solidFill>
                <a:latin typeface="Calibri"/>
              </a:rPr>
              <a:t>should never be answered</a:t>
            </a:r>
          </a:p>
        </p:txBody>
      </p:sp>
      <p:sp>
        <p:nvSpPr>
          <p:cNvPr id="15" name="Rounded Rectangle 14"/>
          <p:cNvSpPr/>
          <p:nvPr/>
        </p:nvSpPr>
        <p:spPr>
          <a:xfrm>
            <a:off x="5074920" y="3520440"/>
            <a:ext cx="2331720" cy="868680"/>
          </a:xfrm>
          <a:prstGeom prst="round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5A6773"/>
                </a:solidFill>
                <a:latin typeface="Calibri"/>
              </a:rPr>
              <a:t>Stops questions the</a:t>
            </a:r>
          </a:p>
          <a:p>
            <a:pPr algn="ctr"/>
            <a:r>
              <a:rPr sz="1300" b="0">
                <a:solidFill>
                  <a:srgbClr val="5A6773"/>
                </a:solidFill>
                <a:latin typeface="Calibri"/>
              </a:rPr>
              <a:t>corpus cannot answer</a:t>
            </a:r>
          </a:p>
        </p:txBody>
      </p:sp>
      <p:sp>
        <p:nvSpPr>
          <p:cNvPr id="16" name="Rounded Rectangle 15"/>
          <p:cNvSpPr/>
          <p:nvPr/>
        </p:nvSpPr>
        <p:spPr>
          <a:xfrm>
            <a:off x="7726679" y="3520440"/>
            <a:ext cx="2331720" cy="868680"/>
          </a:xfrm>
          <a:prstGeom prst="round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5A6773"/>
                </a:solidFill>
                <a:latin typeface="Calibri"/>
              </a:rPr>
              <a:t>Stops answers the</a:t>
            </a:r>
          </a:p>
          <a:p>
            <a:pPr algn="ctr"/>
            <a:r>
              <a:rPr sz="1300" b="0">
                <a:solidFill>
                  <a:srgbClr val="5A6773"/>
                </a:solidFill>
                <a:latin typeface="Calibri"/>
              </a:rPr>
              <a:t>corpus does not support</a:t>
            </a:r>
          </a:p>
        </p:txBody>
      </p:sp>
      <p:sp>
        <p:nvSpPr>
          <p:cNvPr id="17" name="TextBox 16"/>
          <p:cNvSpPr txBox="1"/>
          <p:nvPr/>
        </p:nvSpPr>
        <p:spPr>
          <a:xfrm>
            <a:off x="685800" y="4800600"/>
            <a:ext cx="10789920" cy="1463040"/>
          </a:xfrm>
          <a:prstGeom prst="rect">
            <a:avLst/>
          </a:prstGeom>
          <a:noFill/>
        </p:spPr>
        <p:txBody>
          <a:bodyPr wrap="square">
            <a:spAutoFit/>
          </a:bodyPr>
          <a:lstStyle/>
          <a:p>
            <a:pPr>
              <a:spcBef>
                <a:spcPts val="0"/>
              </a:spcBef>
              <a:spcAft>
                <a:spcPts val="1000"/>
              </a:spcAft>
            </a:pPr>
            <a:r>
              <a:rPr sz="1700" b="0" i="0">
                <a:solidFill>
                  <a:srgbClr val="5A6773"/>
                </a:solidFill>
                <a:latin typeface="Calibri"/>
              </a:rPr>
              <a:t>Retrieval is the well-understood part of a RAG system. The contribution here is the refusal machinery around it:</a:t>
            </a:r>
          </a:p>
          <a:p>
            <a:pPr>
              <a:spcBef>
                <a:spcPts val="0"/>
              </a:spcBef>
              <a:spcAft>
                <a:spcPts val="1000"/>
              </a:spcAft>
            </a:pPr>
            <a:r>
              <a:rPr sz="1700" b="1" i="0">
                <a:solidFill>
                  <a:srgbClr val="1F2933"/>
                </a:solidFill>
                <a:latin typeface="Calibri"/>
              </a:rPr>
              <a:t>no path returns raw model text, and no path skips a gate. Every exit is a structured Response carrying the reason it took that exit.</a:t>
            </a:r>
          </a:p>
        </p:txBody>
      </p:sp>
      <p:sp>
        <p:nvSpPr>
          <p:cNvPr id="18" name="TextBox 17"/>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ARCHITECTURE 1 OF 2</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Build time: a governed corpus becomes two indexes</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965960"/>
            <a:ext cx="1444752" cy="1143000"/>
          </a:xfrm>
          <a:prstGeom prst="roundRect">
            <a:avLst/>
          </a:prstGeom>
          <a:solidFill>
            <a:srgbClr val="F2F5F9"/>
          </a:solidFill>
          <a:ln w="1905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F2933"/>
                </a:solidFill>
                <a:latin typeface="Calibri"/>
              </a:rPr>
              <a:t>21 MOHFW</a:t>
            </a:r>
          </a:p>
          <a:p>
            <a:pPr algn="ctr"/>
            <a:r>
              <a:rPr sz="1200" b="0">
                <a:solidFill>
                  <a:srgbClr val="1F2933"/>
                </a:solidFill>
                <a:latin typeface="Calibri"/>
              </a:rPr>
              <a:t>PDFs</a:t>
            </a:r>
          </a:p>
        </p:txBody>
      </p:sp>
      <p:sp>
        <p:nvSpPr>
          <p:cNvPr id="6" name="Right Arrow 5"/>
          <p:cNvSpPr/>
          <p:nvPr/>
        </p:nvSpPr>
        <p:spPr>
          <a:xfrm>
            <a:off x="2148840" y="2473452"/>
            <a:ext cx="137160"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304288" y="1965960"/>
            <a:ext cx="1444752" cy="1143000"/>
          </a:xfrm>
          <a:prstGeom prst="roundRect">
            <a:avLst/>
          </a:prstGeom>
          <a:solidFill>
            <a:srgbClr val="ECF6EF"/>
          </a:solidFill>
          <a:ln w="1905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F7D4F"/>
                </a:solidFill>
                <a:latin typeface="Calibri"/>
              </a:rPr>
              <a:t>corpus_manifest</a:t>
            </a:r>
          </a:p>
          <a:p>
            <a:pPr algn="ctr"/>
            <a:r>
              <a:rPr sz="1200" b="0">
                <a:solidFill>
                  <a:srgbClr val="2F7D4F"/>
                </a:solidFill>
                <a:latin typeface="Calibri"/>
              </a:rPr>
              <a:t>sha256 allow-list</a:t>
            </a:r>
          </a:p>
        </p:txBody>
      </p:sp>
      <p:sp>
        <p:nvSpPr>
          <p:cNvPr id="8" name="Right Arrow 7"/>
          <p:cNvSpPr/>
          <p:nvPr/>
        </p:nvSpPr>
        <p:spPr>
          <a:xfrm>
            <a:off x="3767328" y="2473452"/>
            <a:ext cx="137160"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922776" y="1965960"/>
            <a:ext cx="1444752" cy="1143000"/>
          </a:xfrm>
          <a:prstGeom prst="roundRect">
            <a:avLst/>
          </a:prstGeom>
          <a:solidFill>
            <a:srgbClr val="FFFFFF"/>
          </a:solidFill>
          <a:ln w="19050">
            <a:solidFill>
              <a:srgbClr val="1B6A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6AC9"/>
                </a:solidFill>
                <a:latin typeface="Calibri"/>
              </a:rPr>
              <a:t>parse</a:t>
            </a:r>
          </a:p>
          <a:p>
            <a:pPr algn="ctr"/>
            <a:r>
              <a:rPr sz="1200" b="0">
                <a:solidFill>
                  <a:srgbClr val="1B6AC9"/>
                </a:solidFill>
                <a:latin typeface="Calibri"/>
              </a:rPr>
              <a:t>text + sections</a:t>
            </a:r>
          </a:p>
        </p:txBody>
      </p:sp>
      <p:sp>
        <p:nvSpPr>
          <p:cNvPr id="10" name="Right Arrow 9"/>
          <p:cNvSpPr/>
          <p:nvPr/>
        </p:nvSpPr>
        <p:spPr>
          <a:xfrm>
            <a:off x="5385816" y="2473452"/>
            <a:ext cx="137160"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541264" y="1965960"/>
            <a:ext cx="1444752" cy="1143000"/>
          </a:xfrm>
          <a:prstGeom prst="roundRect">
            <a:avLst/>
          </a:prstGeom>
          <a:solidFill>
            <a:srgbClr val="FFFFFF"/>
          </a:solidFill>
          <a:ln w="19050">
            <a:solidFill>
              <a:srgbClr val="1B6A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6AC9"/>
                </a:solidFill>
                <a:latin typeface="Calibri"/>
              </a:rPr>
              <a:t>chunk</a:t>
            </a:r>
          </a:p>
          <a:p>
            <a:pPr algn="ctr"/>
            <a:r>
              <a:rPr sz="1200" b="0">
                <a:solidFill>
                  <a:srgbClr val="1B6AC9"/>
                </a:solidFill>
                <a:latin typeface="Calibri"/>
              </a:rPr>
              <a:t>3,547 pieces</a:t>
            </a:r>
          </a:p>
        </p:txBody>
      </p:sp>
      <p:sp>
        <p:nvSpPr>
          <p:cNvPr id="12" name="Right Arrow 11"/>
          <p:cNvSpPr/>
          <p:nvPr/>
        </p:nvSpPr>
        <p:spPr>
          <a:xfrm>
            <a:off x="7004304" y="2473452"/>
            <a:ext cx="137160"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7159752" y="1965960"/>
            <a:ext cx="1444752" cy="1143000"/>
          </a:xfrm>
          <a:prstGeom prst="roundRect">
            <a:avLst/>
          </a:prstGeom>
          <a:solidFill>
            <a:srgbClr val="ECF6EF"/>
          </a:solidFill>
          <a:ln w="1905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F7D4F"/>
                </a:solidFill>
                <a:latin typeface="Calibri"/>
              </a:rPr>
              <a:t>chunks/*.jsonl</a:t>
            </a:r>
          </a:p>
          <a:p>
            <a:pPr algn="ctr"/>
            <a:r>
              <a:rPr sz="1200" b="0">
                <a:solidFill>
                  <a:srgbClr val="2F7D4F"/>
                </a:solidFill>
                <a:latin typeface="Calibri"/>
              </a:rPr>
              <a:t>BM25 reads this</a:t>
            </a:r>
          </a:p>
        </p:txBody>
      </p:sp>
      <p:sp>
        <p:nvSpPr>
          <p:cNvPr id="14" name="Right Arrow 13"/>
          <p:cNvSpPr/>
          <p:nvPr/>
        </p:nvSpPr>
        <p:spPr>
          <a:xfrm>
            <a:off x="8622792" y="2473452"/>
            <a:ext cx="137160"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8778240" y="1965960"/>
            <a:ext cx="1444752" cy="1143000"/>
          </a:xfrm>
          <a:prstGeom prst="roundRect">
            <a:avLst/>
          </a:prstGeom>
          <a:solidFill>
            <a:srgbClr val="FFFFFF"/>
          </a:solidFill>
          <a:ln w="19050">
            <a:solidFill>
              <a:srgbClr val="1B6A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6AC9"/>
                </a:solidFill>
                <a:latin typeface="Calibri"/>
              </a:rPr>
              <a:t>build</a:t>
            </a:r>
          </a:p>
          <a:p>
            <a:pPr algn="ctr"/>
            <a:r>
              <a:rPr sz="1200" b="0">
                <a:solidFill>
                  <a:srgbClr val="1B6AC9"/>
                </a:solidFill>
                <a:latin typeface="Calibri"/>
              </a:rPr>
              <a:t>embed + upsert</a:t>
            </a:r>
          </a:p>
        </p:txBody>
      </p:sp>
      <p:sp>
        <p:nvSpPr>
          <p:cNvPr id="16" name="Right Arrow 15"/>
          <p:cNvSpPr/>
          <p:nvPr/>
        </p:nvSpPr>
        <p:spPr>
          <a:xfrm>
            <a:off x="10241280" y="2473452"/>
            <a:ext cx="137160" cy="128016"/>
          </a:xfrm>
          <a:prstGeom prst="right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10396728" y="1965960"/>
            <a:ext cx="1444752" cy="1143000"/>
          </a:xfrm>
          <a:prstGeom prst="roundRect">
            <a:avLst/>
          </a:prstGeom>
          <a:solidFill>
            <a:srgbClr val="ECF6EF"/>
          </a:solidFill>
          <a:ln w="1905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F7D4F"/>
                </a:solidFill>
                <a:latin typeface="Calibri"/>
              </a:rPr>
              <a:t>Vector store</a:t>
            </a:r>
          </a:p>
          <a:p>
            <a:pPr algn="ctr"/>
            <a:r>
              <a:rPr sz="1200" b="0">
                <a:solidFill>
                  <a:srgbClr val="2F7D4F"/>
                </a:solidFill>
                <a:latin typeface="Calibri"/>
              </a:rPr>
              <a:t>remote</a:t>
            </a:r>
          </a:p>
        </p:txBody>
      </p:sp>
      <p:sp>
        <p:nvSpPr>
          <p:cNvPr id="18" name="TextBox 17"/>
          <p:cNvSpPr txBox="1"/>
          <p:nvPr/>
        </p:nvSpPr>
        <p:spPr>
          <a:xfrm>
            <a:off x="685800" y="3520440"/>
            <a:ext cx="10881360" cy="2377440"/>
          </a:xfrm>
          <a:prstGeom prst="rect">
            <a:avLst/>
          </a:prstGeom>
          <a:noFill/>
        </p:spPr>
        <p:txBody>
          <a:bodyPr wrap="square">
            <a:spAutoFit/>
          </a:bodyPr>
          <a:lstStyle/>
          <a:p>
            <a:pPr>
              <a:spcBef>
                <a:spcPts val="0"/>
              </a:spcBef>
              <a:spcAft>
                <a:spcPts val="1100"/>
              </a:spcAft>
            </a:pPr>
            <a:r>
              <a:rPr sz="1700" b="0" i="0">
                <a:solidFill>
                  <a:srgbClr val="1F2933"/>
                </a:solidFill>
                <a:latin typeface="Calibri"/>
              </a:rPr>
              <a:t>•  The manifest is the gate on what may enter. Each source document is sha256-pinned, so the corpus cannot drift without the manifest changing.</a:t>
            </a:r>
          </a:p>
          <a:p>
            <a:pPr>
              <a:spcBef>
                <a:spcPts val="0"/>
              </a:spcBef>
              <a:spcAft>
                <a:spcPts val="1100"/>
              </a:spcAft>
            </a:pPr>
            <a:r>
              <a:rPr sz="1700" b="0" i="0">
                <a:solidFill>
                  <a:srgbClr val="1F2933"/>
                </a:solidFill>
                <a:latin typeface="Calibri"/>
              </a:rPr>
              <a:t>•  Two artifacts come out, and query time reads both: the JSONL file feeds an in-process BM25 index, the vector store serves dense search.</a:t>
            </a:r>
          </a:p>
          <a:p>
            <a:pPr>
              <a:spcBef>
                <a:spcPts val="0"/>
              </a:spcBef>
              <a:spcAft>
                <a:spcPts val="1100"/>
              </a:spcAft>
            </a:pPr>
            <a:r>
              <a:rPr sz="1700" b="0" i="0">
                <a:solidFill>
                  <a:srgbClr val="1F2933"/>
                </a:solidFill>
                <a:latin typeface="Calibri"/>
              </a:rPr>
              <a:t>•  They must describe the same corpus, so dense hits are resolved back to local chunks by chunk_id — a mismatch is reported as an orphan rather than half-retrieved in silence.</a:t>
            </a:r>
          </a:p>
          <a:p>
            <a:pPr>
              <a:spcBef>
                <a:spcPts val="0"/>
              </a:spcBef>
              <a:spcAft>
                <a:spcPts val="1000"/>
              </a:spcAft>
            </a:pPr>
            <a:r>
              <a:rPr sz="1700" b="1" i="0">
                <a:solidFill>
                  <a:srgbClr val="1F2933"/>
                </a:solidFill>
                <a:latin typeface="Calibri"/>
              </a:rPr>
              <a:t>•  21 documents, 1,907 pages, 3,547 chunks at a mean of 214 tokens. Nothing skipped.</a:t>
            </a:r>
          </a:p>
        </p:txBody>
      </p:sp>
      <p:sp>
        <p:nvSpPr>
          <p:cNvPr id="19" name="TextBox 18"/>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ARCHITECTURE 2 OF 2</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Request time: one question, ten stages, one Response</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5577840" cy="411480"/>
          </a:xfrm>
          <a:prstGeom prst="roundRect">
            <a:avLst/>
          </a:prstGeom>
          <a:solidFill>
            <a:srgbClr val="F2F5F9"/>
          </a:solidFill>
          <a:ln w="15875">
            <a:solidFill>
              <a:srgbClr val="5A677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0">
                <a:solidFill>
                  <a:srgbClr val="5A6773"/>
                </a:solidFill>
                <a:latin typeface="Calibri"/>
              </a:rPr>
              <a:t>auth, verified, rate limit</a:t>
            </a:r>
          </a:p>
        </p:txBody>
      </p:sp>
      <p:sp>
        <p:nvSpPr>
          <p:cNvPr id="6" name="Down Arrow 5"/>
          <p:cNvSpPr/>
          <p:nvPr/>
        </p:nvSpPr>
        <p:spPr>
          <a:xfrm>
            <a:off x="3401568" y="2194560"/>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85800" y="2295144"/>
            <a:ext cx="5577840" cy="411480"/>
          </a:xfrm>
          <a:prstGeom prst="roundRect">
            <a:avLst/>
          </a:prstGeom>
          <a:solidFill>
            <a:srgbClr val="FFFFFF"/>
          </a:solidFill>
          <a:ln w="15875">
            <a:solidFill>
              <a:srgbClr val="1B6AC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B6AC9"/>
                </a:solidFill>
                <a:latin typeface="Calibri"/>
              </a:rPr>
              <a:t>GATE 1   intent  —  in scope?</a:t>
            </a:r>
          </a:p>
        </p:txBody>
      </p:sp>
      <p:sp>
        <p:nvSpPr>
          <p:cNvPr id="8" name="Down Arrow 7"/>
          <p:cNvSpPr/>
          <p:nvPr/>
        </p:nvSpPr>
        <p:spPr>
          <a:xfrm>
            <a:off x="3401568" y="2706624"/>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85800" y="2807208"/>
            <a:ext cx="5577840" cy="411480"/>
          </a:xfrm>
          <a:prstGeom prst="roundRect">
            <a:avLst/>
          </a:prstGeom>
          <a:solidFill>
            <a:srgbClr val="FFFFFF"/>
          </a:solidFill>
          <a:ln w="15875">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0">
                <a:solidFill>
                  <a:srgbClr val="1F2933"/>
                </a:solidFill>
                <a:latin typeface="Calibri"/>
              </a:rPr>
              <a:t>retrieve   dense + BM25, fused on rank</a:t>
            </a:r>
          </a:p>
        </p:txBody>
      </p:sp>
      <p:sp>
        <p:nvSpPr>
          <p:cNvPr id="10" name="Down Arrow 9"/>
          <p:cNvSpPr/>
          <p:nvPr/>
        </p:nvSpPr>
        <p:spPr>
          <a:xfrm>
            <a:off x="3401568" y="3218688"/>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85800" y="3319272"/>
            <a:ext cx="5577840" cy="411480"/>
          </a:xfrm>
          <a:prstGeom prst="roundRect">
            <a:avLst/>
          </a:prstGeom>
          <a:solidFill>
            <a:srgbClr val="FFFFFF"/>
          </a:solidFill>
          <a:ln w="15875">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0">
                <a:solidFill>
                  <a:srgbClr val="1F2933"/>
                </a:solidFill>
                <a:latin typeface="Calibri"/>
              </a:rPr>
              <a:t>rerank   absolute 0–10 per passage</a:t>
            </a:r>
          </a:p>
        </p:txBody>
      </p:sp>
      <p:sp>
        <p:nvSpPr>
          <p:cNvPr id="12" name="Down Arrow 11"/>
          <p:cNvSpPr/>
          <p:nvPr/>
        </p:nvSpPr>
        <p:spPr>
          <a:xfrm>
            <a:off x="3401568" y="3730752"/>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85800" y="3831336"/>
            <a:ext cx="5577840" cy="411480"/>
          </a:xfrm>
          <a:prstGeom prst="roundRect">
            <a:avLst/>
          </a:prstGeom>
          <a:solidFill>
            <a:srgbClr val="FFFFFF"/>
          </a:solidFill>
          <a:ln w="15875">
            <a:solidFill>
              <a:srgbClr val="B57A1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B57A1F"/>
                </a:solidFill>
                <a:latin typeface="Calibri"/>
              </a:rPr>
              <a:t>GATE 2   confidence  —  top-1 ≥ 5.5?</a:t>
            </a:r>
          </a:p>
        </p:txBody>
      </p:sp>
      <p:sp>
        <p:nvSpPr>
          <p:cNvPr id="14" name="Down Arrow 13"/>
          <p:cNvSpPr/>
          <p:nvPr/>
        </p:nvSpPr>
        <p:spPr>
          <a:xfrm>
            <a:off x="3401568" y="4242816"/>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85800" y="4343400"/>
            <a:ext cx="5577840" cy="411480"/>
          </a:xfrm>
          <a:prstGeom prst="roundRect">
            <a:avLst/>
          </a:prstGeom>
          <a:solidFill>
            <a:srgbClr val="FDF6E8"/>
          </a:solidFill>
          <a:ln w="15875">
            <a:solidFill>
              <a:srgbClr val="B57A1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B57A1F"/>
                </a:solidFill>
                <a:latin typeface="Calibri"/>
              </a:rPr>
              <a:t>corrective retry   wider, HyDE-weighted, once</a:t>
            </a:r>
          </a:p>
        </p:txBody>
      </p:sp>
      <p:sp>
        <p:nvSpPr>
          <p:cNvPr id="16" name="Down Arrow 15"/>
          <p:cNvSpPr/>
          <p:nvPr/>
        </p:nvSpPr>
        <p:spPr>
          <a:xfrm>
            <a:off x="3401568" y="4754880"/>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85800" y="4855464"/>
            <a:ext cx="5577840" cy="411480"/>
          </a:xfrm>
          <a:prstGeom prst="roundRect">
            <a:avLst/>
          </a:prstGeom>
          <a:solidFill>
            <a:srgbClr val="FFFFFF"/>
          </a:solidFill>
          <a:ln w="15875">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0">
                <a:solidFill>
                  <a:srgbClr val="1F2933"/>
                </a:solidFill>
                <a:latin typeface="Calibri"/>
              </a:rPr>
              <a:t>generate   answer + claims[]</a:t>
            </a:r>
          </a:p>
        </p:txBody>
      </p:sp>
      <p:sp>
        <p:nvSpPr>
          <p:cNvPr id="18" name="Down Arrow 17"/>
          <p:cNvSpPr/>
          <p:nvPr/>
        </p:nvSpPr>
        <p:spPr>
          <a:xfrm>
            <a:off x="3401568" y="5266944"/>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85800" y="5367528"/>
            <a:ext cx="5577840" cy="411480"/>
          </a:xfrm>
          <a:prstGeom prst="roundRect">
            <a:avLst/>
          </a:prstGeom>
          <a:solidFill>
            <a:srgbClr val="FFFFFF"/>
          </a:solidFill>
          <a:ln w="15875">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2F7D4F"/>
                </a:solidFill>
                <a:latin typeface="Calibri"/>
              </a:rPr>
              <a:t>GATE 3   output  —  supported?</a:t>
            </a:r>
          </a:p>
        </p:txBody>
      </p:sp>
      <p:sp>
        <p:nvSpPr>
          <p:cNvPr id="20" name="Down Arrow 19"/>
          <p:cNvSpPr/>
          <p:nvPr/>
        </p:nvSpPr>
        <p:spPr>
          <a:xfrm>
            <a:off x="3401568" y="5779008"/>
            <a:ext cx="146304" cy="100584"/>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85800" y="5934456"/>
            <a:ext cx="2651760" cy="530352"/>
          </a:xfrm>
          <a:prstGeom prst="roundRect">
            <a:avLst/>
          </a:prstGeom>
          <a:solidFill>
            <a:srgbClr val="ECF6EF"/>
          </a:solidFill>
          <a:ln w="1270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F7D4F"/>
                </a:solidFill>
                <a:latin typeface="Calibri"/>
              </a:rPr>
              <a:t>Answer + citations + disclaimer</a:t>
            </a:r>
          </a:p>
        </p:txBody>
      </p:sp>
      <p:sp>
        <p:nvSpPr>
          <p:cNvPr id="22" name="Rounded Rectangle 21"/>
          <p:cNvSpPr/>
          <p:nvPr/>
        </p:nvSpPr>
        <p:spPr>
          <a:xfrm>
            <a:off x="3611880" y="5934456"/>
            <a:ext cx="2651760" cy="530352"/>
          </a:xfrm>
          <a:prstGeom prst="roundRect">
            <a:avLst/>
          </a:prstGeom>
          <a:solidFill>
            <a:srgbClr val="FBEEEE"/>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C03939"/>
                </a:solidFill>
                <a:latin typeface="Calibri"/>
              </a:rPr>
              <a:t>Refusal  —  standard text per reason</a:t>
            </a:r>
          </a:p>
        </p:txBody>
      </p:sp>
      <p:sp>
        <p:nvSpPr>
          <p:cNvPr id="23" name="Rounded Rectangle 22"/>
          <p:cNvSpPr/>
          <p:nvPr/>
        </p:nvSpPr>
        <p:spPr>
          <a:xfrm>
            <a:off x="6720840" y="1783080"/>
            <a:ext cx="4754880" cy="41605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949440" y="1938528"/>
            <a:ext cx="4297680" cy="3840480"/>
          </a:xfrm>
          <a:prstGeom prst="rect">
            <a:avLst/>
          </a:prstGeom>
          <a:noFill/>
        </p:spPr>
        <p:txBody>
          <a:bodyPr wrap="square">
            <a:spAutoFit/>
          </a:bodyPr>
          <a:lstStyle/>
          <a:p>
            <a:pPr>
              <a:spcBef>
                <a:spcPts val="0"/>
              </a:spcBef>
              <a:spcAft>
                <a:spcPts val="1100"/>
              </a:spcAft>
            </a:pPr>
            <a:r>
              <a:rPr sz="1200" b="1" i="0">
                <a:solidFill>
                  <a:srgbClr val="1B6AC9"/>
                </a:solidFill>
                <a:latin typeface="Calibri"/>
              </a:rPr>
              <a:t>WHAT THE SHAPE SHOWS</a:t>
            </a:r>
          </a:p>
          <a:p>
            <a:pPr>
              <a:spcBef>
                <a:spcPts val="0"/>
              </a:spcBef>
              <a:spcAft>
                <a:spcPts val="900"/>
              </a:spcAft>
            </a:pPr>
            <a:r>
              <a:rPr sz="1500" b="0" i="0">
                <a:solidFill>
                  <a:srgbClr val="1F2933"/>
                </a:solidFill>
                <a:latin typeface="Calibri"/>
              </a:rPr>
              <a:t>•  Every red edge converges on one refusal node. A gate cannot invent its own failure message.</a:t>
            </a:r>
          </a:p>
          <a:p>
            <a:pPr>
              <a:spcBef>
                <a:spcPts val="0"/>
              </a:spcBef>
              <a:spcAft>
                <a:spcPts val="900"/>
              </a:spcAft>
            </a:pPr>
            <a:r>
              <a:rPr sz="1500" b="0" i="0">
                <a:solidFill>
                  <a:srgbClr val="1F2933"/>
                </a:solidFill>
                <a:latin typeface="Calibri"/>
              </a:rPr>
              <a:t>•  A Gate 1 refusal performs no retrieval at all — the cheapest refusal is also the earliest.</a:t>
            </a:r>
          </a:p>
          <a:p>
            <a:pPr>
              <a:spcBef>
                <a:spcPts val="0"/>
              </a:spcBef>
              <a:spcAft>
                <a:spcPts val="900"/>
              </a:spcAft>
            </a:pPr>
            <a:r>
              <a:rPr sz="1500" b="0" i="0">
                <a:solidFill>
                  <a:srgbClr val="1F2933"/>
                </a:solidFill>
                <a:latin typeface="Calibri"/>
              </a:rPr>
              <a:t>•  The corrective branch rejoins at a second, separate judgement, not back into Gate 2. That is why the retry is provably bounded at one.</a:t>
            </a:r>
          </a:p>
          <a:p>
            <a:pPr>
              <a:spcBef>
                <a:spcPts val="0"/>
              </a:spcBef>
              <a:spcAft>
                <a:spcPts val="900"/>
              </a:spcAft>
            </a:pPr>
            <a:r>
              <a:rPr sz="1500" b="0" i="0">
                <a:solidFill>
                  <a:srgbClr val="1F2933"/>
                </a:solidFill>
                <a:latin typeface="Calibri"/>
              </a:rPr>
              <a:t>•  A response cache sits in front of the whole pipeline, keyed by a fingerprint of the pipeline configuration.</a:t>
            </a:r>
          </a:p>
          <a:p>
            <a:pPr>
              <a:spcBef>
                <a:spcPts val="0"/>
              </a:spcBef>
              <a:spcAft>
                <a:spcPts val="1000"/>
              </a:spcAft>
            </a:pPr>
            <a:r>
              <a:rPr sz="1500" b="0" i="0">
                <a:solidFill>
                  <a:srgbClr val="1F2933"/>
                </a:solidFill>
                <a:latin typeface="Calibri"/>
              </a:rPr>
              <a:t>•  The CLI calls the same pipeline in process, so the gates cannot be skipped by using a different entry point.</a:t>
            </a:r>
          </a:p>
        </p:txBody>
      </p:sp>
      <p:sp>
        <p:nvSpPr>
          <p:cNvPr id="25" name="TextBox 24"/>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GATE 1  ·  INTENT</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Rules may escalate, but never clear</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91640"/>
            <a:ext cx="5577840" cy="4114800"/>
          </a:xfrm>
          <a:prstGeom prst="rect">
            <a:avLst/>
          </a:prstGeom>
          <a:noFill/>
        </p:spPr>
        <p:txBody>
          <a:bodyPr wrap="square">
            <a:spAutoFit/>
          </a:bodyPr>
          <a:lstStyle/>
          <a:p>
            <a:pPr>
              <a:spcBef>
                <a:spcPts val="0"/>
              </a:spcBef>
              <a:spcAft>
                <a:spcPts val="1200"/>
              </a:spcAft>
            </a:pPr>
            <a:r>
              <a:rPr sz="1700" b="0" i="0">
                <a:solidFill>
                  <a:srgbClr val="1F2933"/>
                </a:solidFill>
                <a:latin typeface="Calibri"/>
              </a:rPr>
              <a:t>Two stages: a set of regex rules, then a model classifier.</a:t>
            </a:r>
          </a:p>
          <a:p>
            <a:pPr>
              <a:spcBef>
                <a:spcPts val="0"/>
              </a:spcBef>
              <a:spcAft>
                <a:spcPts val="1200"/>
              </a:spcAft>
            </a:pPr>
            <a:r>
              <a:rPr sz="1700" b="1" i="0">
                <a:solidFill>
                  <a:srgbClr val="1F2933"/>
                </a:solidFill>
                <a:latin typeface="Calibri"/>
              </a:rPr>
              <a:t>The rules can refuse a query outright. They can never stamp one as in_scope.</a:t>
            </a:r>
          </a:p>
          <a:p>
            <a:pPr>
              <a:spcBef>
                <a:spcPts val="0"/>
              </a:spcBef>
              <a:spcAft>
                <a:spcPts val="1200"/>
              </a:spcAft>
            </a:pPr>
            <a:r>
              <a:rPr sz="1700" b="0" i="0">
                <a:solidFill>
                  <a:srgbClr val="1F2933"/>
                </a:solidFill>
                <a:latin typeface="Calibri"/>
              </a:rPr>
              <a:t>If they could, any phrasing the patterns failed to anticipate would bypass the model check entirely — the classic accident where a blocklist quietly becomes an allowlist.</a:t>
            </a:r>
          </a:p>
          <a:p>
            <a:pPr>
              <a:spcBef>
                <a:spcPts val="0"/>
              </a:spcBef>
              <a:spcAft>
                <a:spcPts val="1000"/>
              </a:spcAft>
            </a:pPr>
            <a:r>
              <a:rPr sz="1700" b="0" i="0">
                <a:solidFill>
                  <a:srgbClr val="5A6773"/>
                </a:solidFill>
                <a:latin typeface="Calibri"/>
              </a:rPr>
              <a:t>A refusal here short-circuits: no embedding, no search, no generation.</a:t>
            </a:r>
          </a:p>
        </p:txBody>
      </p:sp>
      <p:sp>
        <p:nvSpPr>
          <p:cNvPr id="6" name="Rounded Rectangle 5"/>
          <p:cNvSpPr/>
          <p:nvPr/>
        </p:nvSpPr>
        <p:spPr>
          <a:xfrm>
            <a:off x="6583680" y="1691640"/>
            <a:ext cx="4892040" cy="402336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0" y="1874519"/>
            <a:ext cx="4389120" cy="3657600"/>
          </a:xfrm>
          <a:prstGeom prst="rect">
            <a:avLst/>
          </a:prstGeom>
          <a:noFill/>
        </p:spPr>
        <p:txBody>
          <a:bodyPr wrap="square">
            <a:spAutoFit/>
          </a:bodyPr>
          <a:lstStyle/>
          <a:p>
            <a:pPr>
              <a:spcBef>
                <a:spcPts val="0"/>
              </a:spcBef>
              <a:spcAft>
                <a:spcPts val="1200"/>
              </a:spcAft>
            </a:pPr>
            <a:r>
              <a:rPr sz="1200" b="1" i="0">
                <a:solidFill>
                  <a:srgbClr val="1B6AC9"/>
                </a:solidFill>
                <a:latin typeface="Calibri"/>
              </a:rPr>
              <a:t>REFUSED BEFORE RETRIEVAL</a:t>
            </a:r>
          </a:p>
          <a:p>
            <a:pPr>
              <a:spcBef>
                <a:spcPts val="0"/>
              </a:spcBef>
              <a:spcAft>
                <a:spcPts val="200"/>
              </a:spcAft>
            </a:pPr>
            <a:r>
              <a:rPr sz="1300" b="1" i="0">
                <a:solidFill>
                  <a:srgbClr val="C03939"/>
                </a:solidFill>
                <a:latin typeface="Calibri"/>
              </a:rPr>
              <a:t>emergency</a:t>
            </a:r>
          </a:p>
          <a:p>
            <a:pPr>
              <a:spcBef>
                <a:spcPts val="0"/>
              </a:spcBef>
              <a:spcAft>
                <a:spcPts val="1200"/>
              </a:spcAft>
            </a:pPr>
            <a:r>
              <a:rPr sz="1500" b="0" i="0">
                <a:solidFill>
                  <a:srgbClr val="1F2933"/>
                </a:solidFill>
                <a:latin typeface="Consolas"/>
              </a:rPr>
              <a:t>“my father is unconscious, what do I do”</a:t>
            </a:r>
          </a:p>
          <a:p>
            <a:pPr>
              <a:spcBef>
                <a:spcPts val="0"/>
              </a:spcBef>
              <a:spcAft>
                <a:spcPts val="200"/>
              </a:spcAft>
            </a:pPr>
            <a:r>
              <a:rPr sz="1300" b="1" i="0">
                <a:solidFill>
                  <a:srgbClr val="C03939"/>
                </a:solidFill>
                <a:latin typeface="Calibri"/>
              </a:rPr>
              <a:t>personalized advice</a:t>
            </a:r>
          </a:p>
          <a:p>
            <a:pPr>
              <a:spcBef>
                <a:spcPts val="0"/>
              </a:spcBef>
              <a:spcAft>
                <a:spcPts val="1200"/>
              </a:spcAft>
            </a:pPr>
            <a:r>
              <a:rPr sz="1500" b="0" i="0">
                <a:solidFill>
                  <a:srgbClr val="1F2933"/>
                </a:solidFill>
                <a:latin typeface="Consolas"/>
              </a:rPr>
              <a:t>“what dose should I take for my fever”</a:t>
            </a:r>
          </a:p>
          <a:p>
            <a:pPr>
              <a:spcBef>
                <a:spcPts val="0"/>
              </a:spcBef>
              <a:spcAft>
                <a:spcPts val="200"/>
              </a:spcAft>
            </a:pPr>
            <a:r>
              <a:rPr sz="1300" b="1" i="0">
                <a:solidFill>
                  <a:srgbClr val="C03939"/>
                </a:solidFill>
                <a:latin typeface="Calibri"/>
              </a:rPr>
              <a:t>out of domain</a:t>
            </a:r>
          </a:p>
          <a:p>
            <a:pPr>
              <a:spcBef>
                <a:spcPts val="0"/>
              </a:spcBef>
              <a:spcAft>
                <a:spcPts val="1000"/>
              </a:spcAft>
            </a:pPr>
            <a:r>
              <a:rPr sz="1500" b="0" i="0">
                <a:solidFill>
                  <a:srgbClr val="1F2933"/>
                </a:solidFill>
                <a:latin typeface="Consolas"/>
              </a:rPr>
              <a:t>“who won the world cup in 2014”</a:t>
            </a:r>
          </a:p>
        </p:txBody>
      </p:sp>
      <p:sp>
        <p:nvSpPr>
          <p:cNvPr id="8" name="TextBox 7"/>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RETRIEVAL</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Two query representations over one corpus</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5120640" cy="1371600"/>
          </a:xfrm>
          <a:prstGeom prst="roundRect">
            <a:avLst/>
          </a:prstGeom>
          <a:solidFill>
            <a:srgbClr val="FFFFFF"/>
          </a:solidFill>
          <a:ln w="19050">
            <a:solidFill>
              <a:srgbClr val="1B6A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68680" y="1901952"/>
            <a:ext cx="4754880" cy="1188720"/>
          </a:xfrm>
          <a:prstGeom prst="rect">
            <a:avLst/>
          </a:prstGeom>
          <a:noFill/>
        </p:spPr>
        <p:txBody>
          <a:bodyPr wrap="square">
            <a:spAutoFit/>
          </a:bodyPr>
          <a:lstStyle/>
          <a:p>
            <a:pPr>
              <a:spcBef>
                <a:spcPts val="0"/>
              </a:spcBef>
              <a:spcAft>
                <a:spcPts val="600"/>
              </a:spcAft>
            </a:pPr>
            <a:r>
              <a:rPr sz="1200" b="1" i="0">
                <a:solidFill>
                  <a:srgbClr val="1B6AC9"/>
                </a:solidFill>
                <a:latin typeface="Calibri"/>
              </a:rPr>
              <a:t>DENSE  ·  remote vector store</a:t>
            </a:r>
          </a:p>
          <a:p>
            <a:pPr>
              <a:spcBef>
                <a:spcPts val="0"/>
              </a:spcBef>
              <a:spcAft>
                <a:spcPts val="0"/>
              </a:spcAft>
            </a:pPr>
            <a:r>
              <a:rPr sz="1400" b="0" i="0">
                <a:solidFill>
                  <a:srgbClr val="1F2933"/>
                </a:solidFill>
                <a:latin typeface="Calibri"/>
              </a:rPr>
              <a:t>Searches with a HyDE-blended vector: a generated hypothetical answer is mixed into the query embedding.</a:t>
            </a:r>
          </a:p>
        </p:txBody>
      </p:sp>
      <p:sp>
        <p:nvSpPr>
          <p:cNvPr id="7" name="Rounded Rectangle 6"/>
          <p:cNvSpPr/>
          <p:nvPr/>
        </p:nvSpPr>
        <p:spPr>
          <a:xfrm>
            <a:off x="6492240" y="1783080"/>
            <a:ext cx="4983480" cy="1371600"/>
          </a:xfrm>
          <a:prstGeom prst="roundRect">
            <a:avLst/>
          </a:prstGeom>
          <a:solidFill>
            <a:srgbClr val="FFFFFF"/>
          </a:solidFill>
          <a:ln w="1905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720840" y="1901952"/>
            <a:ext cx="4572000" cy="1188720"/>
          </a:xfrm>
          <a:prstGeom prst="rect">
            <a:avLst/>
          </a:prstGeom>
          <a:noFill/>
        </p:spPr>
        <p:txBody>
          <a:bodyPr wrap="square">
            <a:spAutoFit/>
          </a:bodyPr>
          <a:lstStyle/>
          <a:p>
            <a:pPr>
              <a:spcBef>
                <a:spcPts val="0"/>
              </a:spcBef>
              <a:spcAft>
                <a:spcPts val="600"/>
              </a:spcAft>
            </a:pPr>
            <a:r>
              <a:rPr sz="1200" b="1" i="0">
                <a:solidFill>
                  <a:srgbClr val="2F7D4F"/>
                </a:solidFill>
                <a:latin typeface="Calibri"/>
              </a:rPr>
              <a:t>LEXICAL  ·  in-process BM25</a:t>
            </a:r>
          </a:p>
          <a:p>
            <a:pPr>
              <a:spcBef>
                <a:spcPts val="0"/>
              </a:spcBef>
              <a:spcAft>
                <a:spcPts val="0"/>
              </a:spcAft>
            </a:pPr>
            <a:r>
              <a:rPr sz="1400" b="0" i="0">
                <a:solidFill>
                  <a:srgbClr val="1F2933"/>
                </a:solidFill>
                <a:latin typeface="Calibri"/>
              </a:rPr>
              <a:t>Searches with the literal rewritten string, after conservative abbreviation expansion.</a:t>
            </a:r>
          </a:p>
        </p:txBody>
      </p:sp>
      <p:sp>
        <p:nvSpPr>
          <p:cNvPr id="9" name="Down Arrow 8"/>
          <p:cNvSpPr/>
          <p:nvPr/>
        </p:nvSpPr>
        <p:spPr>
          <a:xfrm>
            <a:off x="2944368" y="3218688"/>
            <a:ext cx="146304" cy="201168"/>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Down Arrow 9"/>
          <p:cNvSpPr/>
          <p:nvPr/>
        </p:nvSpPr>
        <p:spPr>
          <a:xfrm>
            <a:off x="8705088" y="3218688"/>
            <a:ext cx="146304" cy="201168"/>
          </a:xfrm>
          <a:prstGeom prst="downArrow">
            <a:avLst/>
          </a:prstGeom>
          <a:solidFill>
            <a:srgbClr val="C8D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3246120" y="3520440"/>
            <a:ext cx="5669280" cy="658368"/>
          </a:xfrm>
          <a:prstGeom prst="roundRect">
            <a:avLst/>
          </a:prstGeom>
          <a:solidFill>
            <a:srgbClr val="F2F5F9"/>
          </a:solidFill>
          <a:ln w="1905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2933"/>
                </a:solidFill>
                <a:latin typeface="Calibri"/>
              </a:rPr>
              <a:t>Reciprocal Rank Fusion  —  fused on rank, never on score</a:t>
            </a:r>
          </a:p>
        </p:txBody>
      </p:sp>
      <p:sp>
        <p:nvSpPr>
          <p:cNvPr id="12" name="TextBox 11"/>
          <p:cNvSpPr txBox="1"/>
          <p:nvPr/>
        </p:nvSpPr>
        <p:spPr>
          <a:xfrm>
            <a:off x="685800" y="4480560"/>
            <a:ext cx="10881360" cy="1828800"/>
          </a:xfrm>
          <a:prstGeom prst="rect">
            <a:avLst/>
          </a:prstGeom>
          <a:noFill/>
        </p:spPr>
        <p:txBody>
          <a:bodyPr wrap="square">
            <a:spAutoFit/>
          </a:bodyPr>
          <a:lstStyle/>
          <a:p>
            <a:pPr>
              <a:spcBef>
                <a:spcPts val="0"/>
              </a:spcBef>
              <a:spcAft>
                <a:spcPts val="1100"/>
              </a:spcAft>
            </a:pPr>
            <a:r>
              <a:rPr sz="1700" b="0" i="0">
                <a:solidFill>
                  <a:srgbClr val="1F2933"/>
                </a:solidFill>
                <a:latin typeface="Calibri"/>
              </a:rPr>
              <a:t>•  The asymmetry is the point. Same corpus, two different query representations — which is the entire reason to fuse them rather than pick one.</a:t>
            </a:r>
          </a:p>
          <a:p>
            <a:pPr>
              <a:spcBef>
                <a:spcPts val="0"/>
              </a:spcBef>
              <a:spcAft>
                <a:spcPts val="1100"/>
              </a:spcAft>
            </a:pPr>
            <a:r>
              <a:rPr sz="1700" b="0" i="0">
                <a:solidFill>
                  <a:srgbClr val="1F2933"/>
                </a:solidFill>
                <a:latin typeface="Calibri"/>
              </a:rPr>
              <a:t>•  Fusion is on rank because the two scores are not on comparable scales; a cosine distance and a BM25 score cannot be averaged meaningfully.</a:t>
            </a:r>
          </a:p>
          <a:p>
            <a:pPr>
              <a:spcBef>
                <a:spcPts val="0"/>
              </a:spcBef>
              <a:spcAft>
                <a:spcPts val="1000"/>
              </a:spcAft>
            </a:pPr>
            <a:r>
              <a:rPr sz="1700" b="0" i="0">
                <a:solidFill>
                  <a:srgbClr val="1F2933"/>
                </a:solidFill>
                <a:latin typeface="Calibri"/>
              </a:rPr>
              <a:t>•  HyDE degrades safely: if the model is unavailable the dense half falls back to the plain query vector and the lexical half is untouched.</a:t>
            </a:r>
          </a:p>
        </p:txBody>
      </p:sp>
      <p:sp>
        <p:nvSpPr>
          <p:cNvPr id="13" name="TextBox 12"/>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RERANKING</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The reranker scores absolutely, not relatively</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91640"/>
            <a:ext cx="5669280" cy="4114800"/>
          </a:xfrm>
          <a:prstGeom prst="rect">
            <a:avLst/>
          </a:prstGeom>
          <a:noFill/>
        </p:spPr>
        <p:txBody>
          <a:bodyPr wrap="square">
            <a:spAutoFit/>
          </a:bodyPr>
          <a:lstStyle/>
          <a:p>
            <a:pPr>
              <a:spcBef>
                <a:spcPts val="0"/>
              </a:spcBef>
              <a:spcAft>
                <a:spcPts val="1200"/>
              </a:spcAft>
            </a:pPr>
            <a:r>
              <a:rPr sz="1700" b="0" i="0">
                <a:solidFill>
                  <a:srgbClr val="1F2933"/>
                </a:solidFill>
                <a:latin typeface="Calibri"/>
              </a:rPr>
              <a:t>An LLM scores each retrieved passage 0–10 on a fixed scale, independently of the others.</a:t>
            </a:r>
          </a:p>
          <a:p>
            <a:pPr>
              <a:spcBef>
                <a:spcPts val="0"/>
              </a:spcBef>
              <a:spcAft>
                <a:spcPts val="1200"/>
              </a:spcAft>
            </a:pPr>
            <a:r>
              <a:rPr sz="1700" b="1" i="0">
                <a:solidFill>
                  <a:srgbClr val="1F2933"/>
                </a:solidFill>
                <a:latin typeface="Calibri"/>
              </a:rPr>
              <a:t>It is deliberately not a ranking.</a:t>
            </a:r>
          </a:p>
          <a:p>
            <a:pPr>
              <a:spcBef>
                <a:spcPts val="0"/>
              </a:spcBef>
              <a:spcAft>
                <a:spcPts val="1200"/>
              </a:spcAft>
            </a:pPr>
            <a:r>
              <a:rPr sz="1700" b="0" i="0">
                <a:solidFill>
                  <a:srgbClr val="1F2933"/>
                </a:solidFill>
                <a:latin typeface="Calibri"/>
              </a:rPr>
              <a:t>Gate 2 refuses on the top-1 score, so a ranking would be useless: the best of five irrelevant passages still ranks first. A relative order cannot express “nothing here answers this”.</a:t>
            </a:r>
          </a:p>
          <a:p>
            <a:pPr>
              <a:spcBef>
                <a:spcPts val="0"/>
              </a:spcBef>
              <a:spcAft>
                <a:spcPts val="1000"/>
              </a:spcAft>
            </a:pPr>
            <a:r>
              <a:rPr sz="1700" b="0" i="0">
                <a:solidFill>
                  <a:srgbClr val="5A6773"/>
                </a:solidFill>
                <a:latin typeface="Calibri"/>
              </a:rPr>
              <a:t>The prompt says so explicitly — do not rank against each other, do not spread scores out to differentiate.</a:t>
            </a:r>
          </a:p>
        </p:txBody>
      </p:sp>
      <p:sp>
        <p:nvSpPr>
          <p:cNvPr id="6" name="Rounded Rectangle 5"/>
          <p:cNvSpPr/>
          <p:nvPr/>
        </p:nvSpPr>
        <p:spPr>
          <a:xfrm>
            <a:off x="6583680" y="1691640"/>
            <a:ext cx="4892040" cy="402336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0" y="1874519"/>
            <a:ext cx="4389120" cy="3657600"/>
          </a:xfrm>
          <a:prstGeom prst="rect">
            <a:avLst/>
          </a:prstGeom>
          <a:noFill/>
        </p:spPr>
        <p:txBody>
          <a:bodyPr wrap="square">
            <a:spAutoFit/>
          </a:bodyPr>
          <a:lstStyle/>
          <a:p>
            <a:pPr>
              <a:spcBef>
                <a:spcPts val="0"/>
              </a:spcBef>
              <a:spcAft>
                <a:spcPts val="1200"/>
              </a:spcAft>
            </a:pPr>
            <a:r>
              <a:rPr sz="1200" b="1" i="0">
                <a:solidFill>
                  <a:srgbClr val="1B6AC9"/>
                </a:solidFill>
                <a:latin typeface="Calibri"/>
              </a:rPr>
              <a:t>THE FIXED SCALE</a:t>
            </a:r>
          </a:p>
          <a:p>
            <a:pPr>
              <a:spcBef>
                <a:spcPts val="0"/>
              </a:spcBef>
              <a:spcAft>
                <a:spcPts val="700"/>
              </a:spcAft>
            </a:pPr>
            <a:r>
              <a:rPr sz="1500" b="0" i="0">
                <a:solidFill>
                  <a:srgbClr val="1F2933"/>
                </a:solidFill>
                <a:latin typeface="Consolas"/>
              </a:rPr>
              <a:t>10      directly and completely answers</a:t>
            </a:r>
          </a:p>
          <a:p>
            <a:pPr>
              <a:spcBef>
                <a:spcPts val="0"/>
              </a:spcBef>
              <a:spcAft>
                <a:spcPts val="700"/>
              </a:spcAft>
            </a:pPr>
            <a:r>
              <a:rPr sz="1500" b="0" i="0">
                <a:solidFill>
                  <a:srgbClr val="1F2933"/>
                </a:solidFill>
                <a:latin typeface="Consolas"/>
              </a:rPr>
              <a:t>7–9    contains most of the answer</a:t>
            </a:r>
          </a:p>
          <a:p>
            <a:pPr>
              <a:spcBef>
                <a:spcPts val="0"/>
              </a:spcBef>
              <a:spcAft>
                <a:spcPts val="700"/>
              </a:spcAft>
            </a:pPr>
            <a:r>
              <a:rPr sz="1500" b="1" i="0">
                <a:solidFill>
                  <a:srgbClr val="B57A1F"/>
                </a:solidFill>
                <a:latin typeface="Consolas"/>
              </a:rPr>
              <a:t>4–6    related topic, part of the answer</a:t>
            </a:r>
          </a:p>
          <a:p>
            <a:pPr>
              <a:spcBef>
                <a:spcPts val="0"/>
              </a:spcBef>
              <a:spcAft>
                <a:spcPts val="700"/>
              </a:spcAft>
            </a:pPr>
            <a:r>
              <a:rPr sz="1500" b="0" i="0">
                <a:solidFill>
                  <a:srgbClr val="1F2933"/>
                </a:solidFill>
                <a:latin typeface="Consolas"/>
              </a:rPr>
              <a:t>1–3    same subject, does not answer</a:t>
            </a:r>
          </a:p>
          <a:p>
            <a:pPr>
              <a:spcBef>
                <a:spcPts val="0"/>
              </a:spcBef>
              <a:spcAft>
                <a:spcPts val="1400"/>
              </a:spcAft>
            </a:pPr>
            <a:r>
              <a:rPr sz="1500" b="0" i="0">
                <a:solidFill>
                  <a:srgbClr val="1F2933"/>
                </a:solidFill>
                <a:latin typeface="Consolas"/>
              </a:rPr>
              <a:t>0        unrelated</a:t>
            </a:r>
          </a:p>
          <a:p>
            <a:pPr>
              <a:spcBef>
                <a:spcPts val="0"/>
              </a:spcBef>
              <a:spcAft>
                <a:spcPts val="1000"/>
              </a:spcAft>
            </a:pPr>
            <a:r>
              <a:rPr sz="1400" b="0" i="1">
                <a:solidFill>
                  <a:srgbClr val="5A6773"/>
                </a:solidFill>
                <a:latin typeface="Calibri"/>
              </a:rPr>
              <a:t>The 4–6 rung is what Gate 2's corrective band is built on — next slide.</a:t>
            </a:r>
          </a:p>
        </p:txBody>
      </p:sp>
      <p:sp>
        <p:nvSpPr>
          <p:cNvPr id="8" name="TextBox 7"/>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GATE 2  ·  CONFIDENCE</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Three outcomes, and a bar that never moves</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5760720" cy="841248"/>
          </a:xfrm>
          <a:prstGeom prst="roundRect">
            <a:avLst/>
          </a:prstGeom>
          <a:solidFill>
            <a:srgbClr val="ECF6EF"/>
          </a:solidFill>
          <a:ln w="1905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500">
                <a:solidFill>
                  <a:srgbClr val="1F2933"/>
                </a:solidFill>
                <a:latin typeface="Consolas"/>
              </a:rPr>
              <a:t>top-1  ≥  5.5        </a:t>
            </a:r>
            <a:r>
              <a:rPr sz="1500" b="1">
                <a:solidFill>
                  <a:srgbClr val="2F7D4F"/>
                </a:solidFill>
                <a:latin typeface="Calibri"/>
              </a:rPr>
              <a:t>PROCEED</a:t>
            </a:r>
          </a:p>
          <a:p>
            <a:pPr algn="l"/>
            <a:r>
              <a:rPr sz="1300">
                <a:solidFill>
                  <a:srgbClr val="5A6773"/>
                </a:solidFill>
                <a:latin typeface="Calibri"/>
              </a:rPr>
              <a:t>generate from passages that clear the bar</a:t>
            </a:r>
          </a:p>
        </p:txBody>
      </p:sp>
      <p:sp>
        <p:nvSpPr>
          <p:cNvPr id="6" name="Rounded Rectangle 5"/>
          <p:cNvSpPr/>
          <p:nvPr/>
        </p:nvSpPr>
        <p:spPr>
          <a:xfrm>
            <a:off x="685800" y="2770632"/>
            <a:ext cx="5760720" cy="841248"/>
          </a:xfrm>
          <a:prstGeom prst="roundRect">
            <a:avLst/>
          </a:prstGeom>
          <a:solidFill>
            <a:srgbClr val="FDF6E8"/>
          </a:solidFill>
          <a:ln w="19050">
            <a:solidFill>
              <a:srgbClr val="B57A1F"/>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500">
                <a:solidFill>
                  <a:srgbClr val="1F2933"/>
                </a:solidFill>
                <a:latin typeface="Consolas"/>
              </a:rPr>
              <a:t>3.0  ≤  top-1  &lt;  5.5        </a:t>
            </a:r>
            <a:r>
              <a:rPr sz="1500" b="1">
                <a:solidFill>
                  <a:srgbClr val="B57A1F"/>
                </a:solidFill>
                <a:latin typeface="Calibri"/>
              </a:rPr>
              <a:t>CORRECT</a:t>
            </a:r>
          </a:p>
          <a:p>
            <a:pPr algn="l"/>
            <a:r>
              <a:rPr sz="1300">
                <a:solidFill>
                  <a:srgbClr val="5A6773"/>
                </a:solidFill>
                <a:latin typeface="Calibri"/>
              </a:rPr>
              <a:t>retry retrieval once, then judge again</a:t>
            </a:r>
          </a:p>
        </p:txBody>
      </p:sp>
      <p:sp>
        <p:nvSpPr>
          <p:cNvPr id="7" name="Rounded Rectangle 6"/>
          <p:cNvSpPr/>
          <p:nvPr/>
        </p:nvSpPr>
        <p:spPr>
          <a:xfrm>
            <a:off x="685800" y="3758184"/>
            <a:ext cx="5760720" cy="841248"/>
          </a:xfrm>
          <a:prstGeom prst="roundRect">
            <a:avLst/>
          </a:prstGeom>
          <a:solidFill>
            <a:srgbClr val="FBEEEE"/>
          </a:solidFill>
          <a:ln w="1905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500">
                <a:solidFill>
                  <a:srgbClr val="1F2933"/>
                </a:solidFill>
                <a:latin typeface="Consolas"/>
              </a:rPr>
              <a:t>top-1  &lt;  3.0        </a:t>
            </a:r>
            <a:r>
              <a:rPr sz="1500" b="1">
                <a:solidFill>
                  <a:srgbClr val="C03939"/>
                </a:solidFill>
                <a:latin typeface="Calibri"/>
              </a:rPr>
              <a:t>REFUSE</a:t>
            </a:r>
          </a:p>
          <a:p>
            <a:pPr algn="l"/>
            <a:r>
              <a:rPr sz="1300">
                <a:solidFill>
                  <a:srgbClr val="5A6773"/>
                </a:solidFill>
                <a:latin typeface="Calibri"/>
              </a:rPr>
              <a:t>“not enough information in the guidelines”</a:t>
            </a:r>
          </a:p>
        </p:txBody>
      </p:sp>
      <p:sp>
        <p:nvSpPr>
          <p:cNvPr id="8" name="Rounded Rectangle 7"/>
          <p:cNvSpPr/>
          <p:nvPr/>
        </p:nvSpPr>
        <p:spPr>
          <a:xfrm>
            <a:off x="6720840" y="1783080"/>
            <a:ext cx="4754880" cy="402336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0" y="1938528"/>
            <a:ext cx="4297680" cy="3703320"/>
          </a:xfrm>
          <a:prstGeom prst="rect">
            <a:avLst/>
          </a:prstGeom>
          <a:noFill/>
        </p:spPr>
        <p:txBody>
          <a:bodyPr wrap="square">
            <a:spAutoFit/>
          </a:bodyPr>
          <a:lstStyle/>
          <a:p>
            <a:pPr>
              <a:spcBef>
                <a:spcPts val="0"/>
              </a:spcBef>
              <a:spcAft>
                <a:spcPts val="1100"/>
              </a:spcAft>
            </a:pPr>
            <a:r>
              <a:rPr sz="1200" b="1" i="0">
                <a:solidFill>
                  <a:srgbClr val="1B6AC9"/>
                </a:solidFill>
                <a:latin typeface="Calibri"/>
              </a:rPr>
              <a:t>THE CORRECTIVE PASS</a:t>
            </a:r>
          </a:p>
          <a:p>
            <a:pPr>
              <a:spcBef>
                <a:spcPts val="0"/>
              </a:spcBef>
              <a:spcAft>
                <a:spcPts val="900"/>
              </a:spcAft>
            </a:pPr>
            <a:r>
              <a:rPr sz="1400" b="0" i="0">
                <a:solidFill>
                  <a:srgbClr val="1F2933"/>
                </a:solidFill>
                <a:latin typeface="Calibri"/>
              </a:rPr>
              <a:t>•  CRAG (Yan et al., 2024) with its external-knowledge action removed — no web fallback, because every claim must trace to a pinned document.</a:t>
            </a:r>
          </a:p>
          <a:p>
            <a:pPr>
              <a:spcBef>
                <a:spcPts val="0"/>
              </a:spcBef>
              <a:spcAft>
                <a:spcPts val="900"/>
              </a:spcAft>
            </a:pPr>
            <a:r>
              <a:rPr sz="1400" b="0" i="0">
                <a:solidFill>
                  <a:srgbClr val="1F2933"/>
                </a:solidFill>
                <a:latin typeface="Calibri"/>
              </a:rPr>
              <a:t>•  Two levers: depth, k from 20 to 40, so ranks 21–40 get scored for the first time; and phrasing, leaning the vector further onto the hypothetical.</a:t>
            </a:r>
          </a:p>
          <a:p>
            <a:pPr>
              <a:spcBef>
                <a:spcPts val="0"/>
              </a:spcBef>
              <a:spcAft>
                <a:spcPts val="900"/>
              </a:spcAft>
            </a:pPr>
            <a:r>
              <a:rPr sz="1400" b="0" i="0">
                <a:solidFill>
                  <a:srgbClr val="1F2933"/>
                </a:solidFill>
                <a:latin typeface="Calibri"/>
              </a:rPr>
              <a:t>•  Nothing is discarded — the pool is the union of both passes, so a good passage cannot be lost by a retry.</a:t>
            </a:r>
          </a:p>
          <a:p>
            <a:pPr>
              <a:spcBef>
                <a:spcPts val="0"/>
              </a:spcBef>
              <a:spcAft>
                <a:spcPts val="900"/>
              </a:spcAft>
            </a:pPr>
            <a:r>
              <a:rPr sz="1400" b="1" i="0">
                <a:solidFill>
                  <a:srgbClr val="1F2933"/>
                </a:solidFill>
                <a:latin typeface="Calibri"/>
              </a:rPr>
              <a:t>•  Re-judged at the same 5.5, with correction disabled. A second attempt at the bar, never a lower bar.</a:t>
            </a:r>
          </a:p>
          <a:p>
            <a:pPr>
              <a:spcBef>
                <a:spcPts val="0"/>
              </a:spcBef>
              <a:spcAft>
                <a:spcPts val="1000"/>
              </a:spcAft>
            </a:pPr>
            <a:r>
              <a:rPr sz="1400" b="0" i="0">
                <a:solidFill>
                  <a:srgbClr val="1F2933"/>
                </a:solidFill>
                <a:latin typeface="Calibri"/>
              </a:rPr>
              <a:t>•  Exactly one retry, by construction. There is no path that loops.</a:t>
            </a:r>
          </a:p>
        </p:txBody>
      </p:sp>
      <p:sp>
        <p:nvSpPr>
          <p:cNvPr id="10" name="TextBox 9"/>
          <p:cNvSpPr txBox="1"/>
          <p:nvPr/>
        </p:nvSpPr>
        <p:spPr>
          <a:xfrm>
            <a:off x="685800" y="4983480"/>
            <a:ext cx="5760720" cy="914400"/>
          </a:xfrm>
          <a:prstGeom prst="rect">
            <a:avLst/>
          </a:prstGeom>
          <a:noFill/>
        </p:spPr>
        <p:txBody>
          <a:bodyPr wrap="square">
            <a:spAutoFit/>
          </a:bodyPr>
          <a:lstStyle/>
          <a:p>
            <a:pPr>
              <a:spcBef>
                <a:spcPts val="0"/>
              </a:spcBef>
              <a:spcAft>
                <a:spcPts val="1000"/>
              </a:spcAft>
            </a:pPr>
            <a:r>
              <a:rPr sz="1400" b="0" i="1">
                <a:solidFill>
                  <a:srgbClr val="5A6773"/>
                </a:solidFill>
                <a:latin typeface="Calibri"/>
              </a:rPr>
              <a:t>This is the gate that makes “I don’t know” possible. Without it the generator is handed the best five chunks no matter how poor, and a fluent model will find something to say about them.</a:t>
            </a:r>
          </a:p>
        </p:txBody>
      </p:sp>
      <p:sp>
        <p:nvSpPr>
          <p:cNvPr id="11" name="TextBox 10"/>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GATE 3  ·  OUTPUT</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Numbers are checked mechanically, not judged</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737360"/>
            <a:ext cx="384048" cy="384048"/>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1</a:t>
            </a:r>
          </a:p>
        </p:txBody>
      </p:sp>
      <p:sp>
        <p:nvSpPr>
          <p:cNvPr id="6" name="TextBox 5"/>
          <p:cNvSpPr txBox="1"/>
          <p:nvPr/>
        </p:nvSpPr>
        <p:spPr>
          <a:xfrm>
            <a:off x="1234440" y="1700784"/>
            <a:ext cx="5486400" cy="731520"/>
          </a:xfrm>
          <a:prstGeom prst="rect">
            <a:avLst/>
          </a:prstGeom>
          <a:noFill/>
        </p:spPr>
        <p:txBody>
          <a:bodyPr wrap="square">
            <a:spAutoFit/>
          </a:bodyPr>
          <a:lstStyle/>
          <a:p>
            <a:pPr>
              <a:spcBef>
                <a:spcPts val="0"/>
              </a:spcBef>
              <a:spcAft>
                <a:spcPts val="100"/>
              </a:spcAft>
            </a:pPr>
            <a:r>
              <a:rPr sz="1600" b="1" i="0">
                <a:solidFill>
                  <a:srgbClr val="1F2933"/>
                </a:solidFill>
                <a:latin typeface="Calibri"/>
              </a:rPr>
              <a:t>Citations resolve</a:t>
            </a:r>
          </a:p>
          <a:p>
            <a:pPr>
              <a:spcBef>
                <a:spcPts val="0"/>
              </a:spcBef>
              <a:spcAft>
                <a:spcPts val="1000"/>
              </a:spcAft>
            </a:pPr>
            <a:r>
              <a:rPr sz="1300" b="0" i="0">
                <a:solidFill>
                  <a:srgbClr val="5A6773"/>
                </a:solidFill>
                <a:latin typeface="Calibri"/>
              </a:rPr>
              <a:t>every marker points at a passage that was actually retrieved</a:t>
            </a:r>
          </a:p>
        </p:txBody>
      </p:sp>
      <p:sp>
        <p:nvSpPr>
          <p:cNvPr id="7" name="Oval 6"/>
          <p:cNvSpPr/>
          <p:nvPr/>
        </p:nvSpPr>
        <p:spPr>
          <a:xfrm>
            <a:off x="685800" y="2523744"/>
            <a:ext cx="384048" cy="384048"/>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2</a:t>
            </a:r>
          </a:p>
        </p:txBody>
      </p:sp>
      <p:sp>
        <p:nvSpPr>
          <p:cNvPr id="8" name="TextBox 7"/>
          <p:cNvSpPr txBox="1"/>
          <p:nvPr/>
        </p:nvSpPr>
        <p:spPr>
          <a:xfrm>
            <a:off x="1234440" y="2487168"/>
            <a:ext cx="5486400" cy="731520"/>
          </a:xfrm>
          <a:prstGeom prst="rect">
            <a:avLst/>
          </a:prstGeom>
          <a:noFill/>
        </p:spPr>
        <p:txBody>
          <a:bodyPr wrap="square">
            <a:spAutoFit/>
          </a:bodyPr>
          <a:lstStyle/>
          <a:p>
            <a:pPr>
              <a:spcBef>
                <a:spcPts val="0"/>
              </a:spcBef>
              <a:spcAft>
                <a:spcPts val="100"/>
              </a:spcAft>
            </a:pPr>
            <a:r>
              <a:rPr sz="1600" b="1" i="0">
                <a:solidFill>
                  <a:srgbClr val="1F2933"/>
                </a:solidFill>
                <a:latin typeface="Calibri"/>
              </a:rPr>
              <a:t>Numbers traceable</a:t>
            </a:r>
          </a:p>
          <a:p>
            <a:pPr>
              <a:spcBef>
                <a:spcPts val="0"/>
              </a:spcBef>
              <a:spcAft>
                <a:spcPts val="1000"/>
              </a:spcAft>
            </a:pPr>
            <a:r>
              <a:rPr sz="1300" b="0" i="0">
                <a:solidFill>
                  <a:srgbClr val="5A6773"/>
                </a:solidFill>
                <a:latin typeface="Calibri"/>
              </a:rPr>
              <a:t>every digit in the answer must appear in a cited passage</a:t>
            </a:r>
          </a:p>
        </p:txBody>
      </p:sp>
      <p:sp>
        <p:nvSpPr>
          <p:cNvPr id="9" name="Oval 8"/>
          <p:cNvSpPr/>
          <p:nvPr/>
        </p:nvSpPr>
        <p:spPr>
          <a:xfrm>
            <a:off x="685800" y="3310128"/>
            <a:ext cx="384048" cy="384048"/>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3</a:t>
            </a:r>
          </a:p>
        </p:txBody>
      </p:sp>
      <p:sp>
        <p:nvSpPr>
          <p:cNvPr id="10" name="TextBox 9"/>
          <p:cNvSpPr txBox="1"/>
          <p:nvPr/>
        </p:nvSpPr>
        <p:spPr>
          <a:xfrm>
            <a:off x="1234440" y="3273552"/>
            <a:ext cx="5486400" cy="731520"/>
          </a:xfrm>
          <a:prstGeom prst="rect">
            <a:avLst/>
          </a:prstGeom>
          <a:noFill/>
        </p:spPr>
        <p:txBody>
          <a:bodyPr wrap="square">
            <a:spAutoFit/>
          </a:bodyPr>
          <a:lstStyle/>
          <a:p>
            <a:pPr>
              <a:spcBef>
                <a:spcPts val="0"/>
              </a:spcBef>
              <a:spcAft>
                <a:spcPts val="100"/>
              </a:spcAft>
            </a:pPr>
            <a:r>
              <a:rPr sz="1600" b="1" i="0">
                <a:solidFill>
                  <a:srgbClr val="1F2933"/>
                </a:solidFill>
                <a:latin typeface="Calibri"/>
              </a:rPr>
              <a:t>Claims supported</a:t>
            </a:r>
          </a:p>
          <a:p>
            <a:pPr>
              <a:spcBef>
                <a:spcPts val="0"/>
              </a:spcBef>
              <a:spcAft>
                <a:spcPts val="1000"/>
              </a:spcAft>
            </a:pPr>
            <a:r>
              <a:rPr sz="1300" b="0" i="0">
                <a:solidFill>
                  <a:srgbClr val="5A6773"/>
                </a:solidFill>
                <a:latin typeface="Calibri"/>
              </a:rPr>
              <a:t>an LLM judge checks each claim against the chunks it cites</a:t>
            </a:r>
          </a:p>
        </p:txBody>
      </p:sp>
      <p:sp>
        <p:nvSpPr>
          <p:cNvPr id="11" name="Oval 10"/>
          <p:cNvSpPr/>
          <p:nvPr/>
        </p:nvSpPr>
        <p:spPr>
          <a:xfrm>
            <a:off x="685800" y="4096512"/>
            <a:ext cx="384048" cy="384048"/>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4</a:t>
            </a:r>
          </a:p>
        </p:txBody>
      </p:sp>
      <p:sp>
        <p:nvSpPr>
          <p:cNvPr id="12" name="TextBox 11"/>
          <p:cNvSpPr txBox="1"/>
          <p:nvPr/>
        </p:nvSpPr>
        <p:spPr>
          <a:xfrm>
            <a:off x="1234440" y="4059936"/>
            <a:ext cx="5486400" cy="731520"/>
          </a:xfrm>
          <a:prstGeom prst="rect">
            <a:avLst/>
          </a:prstGeom>
          <a:noFill/>
        </p:spPr>
        <p:txBody>
          <a:bodyPr wrap="square">
            <a:spAutoFit/>
          </a:bodyPr>
          <a:lstStyle/>
          <a:p>
            <a:pPr>
              <a:spcBef>
                <a:spcPts val="0"/>
              </a:spcBef>
              <a:spcAft>
                <a:spcPts val="100"/>
              </a:spcAft>
            </a:pPr>
            <a:r>
              <a:rPr sz="1600" b="1" i="0">
                <a:solidFill>
                  <a:srgbClr val="1F2933"/>
                </a:solidFill>
                <a:latin typeface="Calibri"/>
              </a:rPr>
              <a:t>Framing safe</a:t>
            </a:r>
          </a:p>
          <a:p>
            <a:pPr>
              <a:spcBef>
                <a:spcPts val="0"/>
              </a:spcBef>
              <a:spcAft>
                <a:spcPts val="1000"/>
              </a:spcAft>
            </a:pPr>
            <a:r>
              <a:rPr sz="1300" b="0" i="0">
                <a:solidFill>
                  <a:srgbClr val="5A6773"/>
                </a:solidFill>
                <a:latin typeface="Calibri"/>
              </a:rPr>
              <a:t>reports rather than instructs — see next slide</a:t>
            </a:r>
          </a:p>
        </p:txBody>
      </p:sp>
      <p:sp>
        <p:nvSpPr>
          <p:cNvPr id="13" name="Rounded Rectangle 12"/>
          <p:cNvSpPr/>
          <p:nvPr/>
        </p:nvSpPr>
        <p:spPr>
          <a:xfrm>
            <a:off x="6583680" y="1737360"/>
            <a:ext cx="4892040" cy="320040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12280" y="1901952"/>
            <a:ext cx="4434840" cy="2926080"/>
          </a:xfrm>
          <a:prstGeom prst="rect">
            <a:avLst/>
          </a:prstGeom>
          <a:noFill/>
        </p:spPr>
        <p:txBody>
          <a:bodyPr wrap="square">
            <a:spAutoFit/>
          </a:bodyPr>
          <a:lstStyle/>
          <a:p>
            <a:pPr>
              <a:spcBef>
                <a:spcPts val="0"/>
              </a:spcBef>
              <a:spcAft>
                <a:spcPts val="1100"/>
              </a:spcAft>
            </a:pPr>
            <a:r>
              <a:rPr sz="1200" b="1" i="0">
                <a:solidFill>
                  <a:srgbClr val="1B6AC9"/>
                </a:solidFill>
                <a:latin typeface="Calibri"/>
              </a:rPr>
              <a:t>WHY CHECK 2 MATTERS MOST</a:t>
            </a:r>
          </a:p>
          <a:p>
            <a:pPr>
              <a:spcBef>
                <a:spcPts val="0"/>
              </a:spcBef>
              <a:spcAft>
                <a:spcPts val="1000"/>
              </a:spcAft>
            </a:pPr>
            <a:r>
              <a:rPr sz="1500" b="0" i="0">
                <a:solidFill>
                  <a:srgbClr val="1F2933"/>
                </a:solidFill>
                <a:latin typeface="Calibri"/>
              </a:rPr>
              <a:t>A model that fabricates a dose while correctly citing a real passage passes citation validation and reads perfectly fluently.</a:t>
            </a:r>
          </a:p>
          <a:p>
            <a:pPr>
              <a:spcBef>
                <a:spcPts val="0"/>
              </a:spcBef>
              <a:spcAft>
                <a:spcPts val="1000"/>
              </a:spcAft>
            </a:pPr>
            <a:r>
              <a:rPr sz="1500" b="1" i="0">
                <a:solidFill>
                  <a:srgbClr val="1F2933"/>
                </a:solidFill>
                <a:latin typeface="Calibri"/>
              </a:rPr>
              <a:t>Comparing every digit in the answer against the digits in the cited passages catches the most dangerous failure mode in the system — and it costs one regular expression.</a:t>
            </a:r>
          </a:p>
        </p:txBody>
      </p:sp>
      <p:sp>
        <p:nvSpPr>
          <p:cNvPr id="15" name="TextBox 14"/>
          <p:cNvSpPr txBox="1"/>
          <p:nvPr/>
        </p:nvSpPr>
        <p:spPr>
          <a:xfrm>
            <a:off x="685800" y="5120640"/>
            <a:ext cx="10881360" cy="1188720"/>
          </a:xfrm>
          <a:prstGeom prst="rect">
            <a:avLst/>
          </a:prstGeom>
          <a:noFill/>
        </p:spPr>
        <p:txBody>
          <a:bodyPr wrap="square">
            <a:spAutoFit/>
          </a:bodyPr>
          <a:lstStyle/>
          <a:p>
            <a:pPr>
              <a:spcBef>
                <a:spcPts val="0"/>
              </a:spcBef>
              <a:spcAft>
                <a:spcPts val="1000"/>
              </a:spcAft>
            </a:pPr>
            <a:r>
              <a:rPr sz="1500" b="0" i="0">
                <a:solidFill>
                  <a:srgbClr val="5A6773"/>
                </a:solidFill>
                <a:latin typeface="Calibri"/>
              </a:rPr>
              <a:t>A failed check does not always discard the answer: unsupported claims are stripped and the remainder kept. Above a 40% unsupported share it refuses instead — a couple of stray sentences is a drafting slip, a majority means the model was working from something other than the passages.</a:t>
            </a:r>
          </a:p>
        </p:txBody>
      </p:sp>
      <p:sp>
        <p:nvSpPr>
          <p:cNvPr id="16" name="TextBox 15"/>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SAFETY DESIGN</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Framing is the boundary, not subject matter</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91640"/>
            <a:ext cx="10881360" cy="731520"/>
          </a:xfrm>
          <a:prstGeom prst="rect">
            <a:avLst/>
          </a:prstGeom>
          <a:noFill/>
        </p:spPr>
        <p:txBody>
          <a:bodyPr wrap="square">
            <a:spAutoFit/>
          </a:bodyPr>
          <a:lstStyle/>
          <a:p>
            <a:pPr>
              <a:spcBef>
                <a:spcPts val="0"/>
              </a:spcBef>
              <a:spcAft>
                <a:spcPts val="1000"/>
              </a:spcAft>
            </a:pPr>
            <a:r>
              <a:rPr sz="1700" b="0" i="0">
                <a:solidFill>
                  <a:srgbClr val="1F2933"/>
                </a:solidFill>
                <a:latin typeface="Calibri"/>
              </a:rPr>
              <a:t>These guidelines are made of doses. Blocking dosage text would refuse most of the corpus, so the line cannot be drawn on subject matter. It is drawn on attribution and addressee.</a:t>
            </a:r>
          </a:p>
        </p:txBody>
      </p:sp>
      <p:sp>
        <p:nvSpPr>
          <p:cNvPr id="6" name="Rounded Rectangle 5"/>
          <p:cNvSpPr/>
          <p:nvPr/>
        </p:nvSpPr>
        <p:spPr>
          <a:xfrm>
            <a:off x="685800" y="2606040"/>
            <a:ext cx="5394960" cy="1371600"/>
          </a:xfrm>
          <a:prstGeom prst="roundRect">
            <a:avLst/>
          </a:prstGeom>
          <a:solidFill>
            <a:srgbClr val="ECF6EF"/>
          </a:solidFill>
          <a:ln w="19050">
            <a:solidFill>
              <a:srgbClr val="2F7D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8680" y="2724912"/>
            <a:ext cx="5029200" cy="1188720"/>
          </a:xfrm>
          <a:prstGeom prst="rect">
            <a:avLst/>
          </a:prstGeom>
          <a:noFill/>
        </p:spPr>
        <p:txBody>
          <a:bodyPr wrap="square">
            <a:spAutoFit/>
          </a:bodyPr>
          <a:lstStyle/>
          <a:p>
            <a:pPr>
              <a:spcBef>
                <a:spcPts val="0"/>
              </a:spcBef>
              <a:spcAft>
                <a:spcPts val="700"/>
              </a:spcAft>
            </a:pPr>
            <a:r>
              <a:rPr sz="1200" b="1" i="0">
                <a:solidFill>
                  <a:srgbClr val="2F7D4F"/>
                </a:solidFill>
                <a:latin typeface="Calibri"/>
              </a:rPr>
              <a:t>ALLOWED</a:t>
            </a:r>
          </a:p>
          <a:p>
            <a:pPr>
              <a:spcBef>
                <a:spcPts val="0"/>
              </a:spcBef>
              <a:spcAft>
                <a:spcPts val="1000"/>
              </a:spcAft>
            </a:pPr>
            <a:r>
              <a:rPr sz="1600" b="0" i="0">
                <a:solidFill>
                  <a:srgbClr val="1F2933"/>
                </a:solidFill>
                <a:latin typeface="Consolas"/>
              </a:rPr>
              <a:t>“The guidelines list rifampicin at 10 mg/kg daily for adults [C2].”</a:t>
            </a:r>
          </a:p>
        </p:txBody>
      </p:sp>
      <p:sp>
        <p:nvSpPr>
          <p:cNvPr id="8" name="Rounded Rectangle 7"/>
          <p:cNvSpPr/>
          <p:nvPr/>
        </p:nvSpPr>
        <p:spPr>
          <a:xfrm>
            <a:off x="6355080" y="2606040"/>
            <a:ext cx="5120640" cy="1371600"/>
          </a:xfrm>
          <a:prstGeom prst="roundRect">
            <a:avLst/>
          </a:prstGeom>
          <a:solidFill>
            <a:srgbClr val="FBEEEE"/>
          </a:solidFill>
          <a:ln w="1905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0" y="2724912"/>
            <a:ext cx="4754880" cy="1188720"/>
          </a:xfrm>
          <a:prstGeom prst="rect">
            <a:avLst/>
          </a:prstGeom>
          <a:noFill/>
        </p:spPr>
        <p:txBody>
          <a:bodyPr wrap="square">
            <a:spAutoFit/>
          </a:bodyPr>
          <a:lstStyle/>
          <a:p>
            <a:pPr>
              <a:spcBef>
                <a:spcPts val="0"/>
              </a:spcBef>
              <a:spcAft>
                <a:spcPts val="700"/>
              </a:spcAft>
            </a:pPr>
            <a:r>
              <a:rPr sz="1200" b="1" i="0">
                <a:solidFill>
                  <a:srgbClr val="C03939"/>
                </a:solidFill>
                <a:latin typeface="Calibri"/>
              </a:rPr>
              <a:t>REFUSED</a:t>
            </a:r>
          </a:p>
          <a:p>
            <a:pPr>
              <a:spcBef>
                <a:spcPts val="0"/>
              </a:spcBef>
              <a:spcAft>
                <a:spcPts val="1000"/>
              </a:spcAft>
            </a:pPr>
            <a:r>
              <a:rPr sz="1600" b="0" i="0">
                <a:solidFill>
                  <a:srgbClr val="1F2933"/>
                </a:solidFill>
                <a:latin typeface="Consolas"/>
              </a:rPr>
              <a:t>“You should take rifampicin 10 mg/kg daily.”</a:t>
            </a:r>
          </a:p>
        </p:txBody>
      </p:sp>
      <p:sp>
        <p:nvSpPr>
          <p:cNvPr id="10" name="TextBox 9"/>
          <p:cNvSpPr txBox="1"/>
          <p:nvPr/>
        </p:nvSpPr>
        <p:spPr>
          <a:xfrm>
            <a:off x="685800" y="4297680"/>
            <a:ext cx="10881360" cy="1828800"/>
          </a:xfrm>
          <a:prstGeom prst="rect">
            <a:avLst/>
          </a:prstGeom>
          <a:noFill/>
        </p:spPr>
        <p:txBody>
          <a:bodyPr wrap="square">
            <a:spAutoFit/>
          </a:bodyPr>
          <a:lstStyle/>
          <a:p>
            <a:pPr>
              <a:spcBef>
                <a:spcPts val="0"/>
              </a:spcBef>
              <a:spcAft>
                <a:spcPts val="1600"/>
              </a:spcAft>
            </a:pPr>
            <a:r>
              <a:rPr sz="2100" b="1" i="0">
                <a:solidFill>
                  <a:srgbClr val="1B6AC9"/>
                </a:solidFill>
                <a:latin typeface="Calibri"/>
              </a:rPr>
              <a:t>Same drug. Same number. One reports; the other instructs.</a:t>
            </a:r>
          </a:p>
          <a:p>
            <a:pPr>
              <a:spcBef>
                <a:spcPts val="0"/>
              </a:spcBef>
              <a:spcAft>
                <a:spcPts val="1000"/>
              </a:spcAft>
            </a:pPr>
            <a:r>
              <a:rPr sz="1600" b="0" i="0">
                <a:solidFill>
                  <a:srgbClr val="5A6773"/>
                </a:solidFill>
                <a:latin typeface="Calibri"/>
              </a:rPr>
              <a:t>A safety classifier at Gate 3 checks the finished answer for four framing failures: personalized advice, diagnosis, imperative dosing, and emergency instruction. It runs on what the model actually wrote, not on what the user asked — because the risk is in the output, not the input.</a:t>
            </a:r>
          </a:p>
        </p:txBody>
      </p:sp>
      <p:sp>
        <p:nvSpPr>
          <p:cNvPr id="11" name="TextBox 10"/>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RELIABILITY</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An unavailable model must not mean “assume safe”</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91640"/>
            <a:ext cx="10881360" cy="45720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2933"/>
                </a:solidFill>
                <a:latin typeface="Calibri"/>
              </a:rPr>
              <a:t>Six model call sites per answered question  —  five fail closed, one degrades</a:t>
            </a:r>
          </a:p>
        </p:txBody>
      </p:sp>
      <p:sp>
        <p:nvSpPr>
          <p:cNvPr id="6" name="Rounded Rectangle 5"/>
          <p:cNvSpPr/>
          <p:nvPr/>
        </p:nvSpPr>
        <p:spPr>
          <a:xfrm>
            <a:off x="685800" y="2377440"/>
            <a:ext cx="5760720" cy="457200"/>
          </a:xfrm>
          <a:prstGeom prst="round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F2933"/>
                </a:solidFill>
                <a:latin typeface="Consolas"/>
              </a:rPr>
              <a:t>intent classifier</a:t>
            </a:r>
            <a:r>
              <a:rPr sz="1300">
                <a:solidFill>
                  <a:srgbClr val="C03939"/>
                </a:solidFill>
                <a:latin typeface="Calibri"/>
              </a:rPr>
              <a:t>      returns OUT_OF_DOMAIN</a:t>
            </a:r>
          </a:p>
        </p:txBody>
      </p:sp>
      <p:sp>
        <p:nvSpPr>
          <p:cNvPr id="7" name="Rounded Rectangle 6"/>
          <p:cNvSpPr/>
          <p:nvPr/>
        </p:nvSpPr>
        <p:spPr>
          <a:xfrm>
            <a:off x="685800" y="2907792"/>
            <a:ext cx="5760720" cy="457200"/>
          </a:xfrm>
          <a:prstGeom prst="round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F2933"/>
                </a:solidFill>
                <a:latin typeface="Consolas"/>
              </a:rPr>
              <a:t>reranker</a:t>
            </a:r>
            <a:r>
              <a:rPr sz="1300">
                <a:solidFill>
                  <a:srgbClr val="C03939"/>
                </a:solidFill>
                <a:latin typeface="Calibri"/>
              </a:rPr>
              <a:t>      all scores None → Gate 2 refuses</a:t>
            </a:r>
          </a:p>
        </p:txBody>
      </p:sp>
      <p:sp>
        <p:nvSpPr>
          <p:cNvPr id="8" name="Rounded Rectangle 7"/>
          <p:cNvSpPr/>
          <p:nvPr/>
        </p:nvSpPr>
        <p:spPr>
          <a:xfrm>
            <a:off x="685800" y="3438144"/>
            <a:ext cx="5760720" cy="457200"/>
          </a:xfrm>
          <a:prstGeom prst="round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F2933"/>
                </a:solidFill>
                <a:latin typeface="Consolas"/>
              </a:rPr>
              <a:t>generator</a:t>
            </a:r>
            <a:r>
              <a:rPr sz="1300">
                <a:solidFill>
                  <a:srgbClr val="C03939"/>
                </a:solidFill>
                <a:latin typeface="Calibri"/>
              </a:rPr>
              <a:t>      returns insufficient_context</a:t>
            </a:r>
          </a:p>
        </p:txBody>
      </p:sp>
      <p:sp>
        <p:nvSpPr>
          <p:cNvPr id="9" name="Rounded Rectangle 8"/>
          <p:cNvSpPr/>
          <p:nvPr/>
        </p:nvSpPr>
        <p:spPr>
          <a:xfrm>
            <a:off x="685800" y="3968496"/>
            <a:ext cx="5760720" cy="457200"/>
          </a:xfrm>
          <a:prstGeom prst="round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F2933"/>
                </a:solidFill>
                <a:latin typeface="Consolas"/>
              </a:rPr>
              <a:t>support judge</a:t>
            </a:r>
            <a:r>
              <a:rPr sz="1300">
                <a:solidFill>
                  <a:srgbClr val="C03939"/>
                </a:solidFill>
                <a:latin typeface="Calibri"/>
              </a:rPr>
              <a:t>      treats every claim as unsupported</a:t>
            </a:r>
          </a:p>
        </p:txBody>
      </p:sp>
      <p:sp>
        <p:nvSpPr>
          <p:cNvPr id="10" name="Rounded Rectangle 9"/>
          <p:cNvSpPr/>
          <p:nvPr/>
        </p:nvSpPr>
        <p:spPr>
          <a:xfrm>
            <a:off x="685800" y="4498848"/>
            <a:ext cx="5760720" cy="457200"/>
          </a:xfrm>
          <a:prstGeom prst="round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F2933"/>
                </a:solidFill>
                <a:latin typeface="Consolas"/>
              </a:rPr>
              <a:t>safety classifier</a:t>
            </a:r>
            <a:r>
              <a:rPr sz="1300">
                <a:solidFill>
                  <a:srgbClr val="C03939"/>
                </a:solidFill>
                <a:latin typeface="Calibri"/>
              </a:rPr>
              <a:t>      raises a flag</a:t>
            </a:r>
          </a:p>
        </p:txBody>
      </p:sp>
      <p:sp>
        <p:nvSpPr>
          <p:cNvPr id="11" name="Rounded Rectangle 10"/>
          <p:cNvSpPr/>
          <p:nvPr/>
        </p:nvSpPr>
        <p:spPr>
          <a:xfrm>
            <a:off x="685800" y="5029200"/>
            <a:ext cx="5760720" cy="457200"/>
          </a:xfrm>
          <a:prstGeom prst="roundRect">
            <a:avLst/>
          </a:prstGeom>
          <a:solidFill>
            <a:srgbClr val="FFFFFF"/>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400" b="1">
                <a:solidFill>
                  <a:srgbClr val="1F2933"/>
                </a:solidFill>
                <a:latin typeface="Consolas"/>
              </a:rPr>
              <a:t>HyDE</a:t>
            </a:r>
            <a:r>
              <a:rPr sz="1300">
                <a:solidFill>
                  <a:srgbClr val="B57A1F"/>
                </a:solidFill>
                <a:latin typeface="Calibri"/>
              </a:rPr>
              <a:t>      falls back to the plain query vector</a:t>
            </a:r>
          </a:p>
        </p:txBody>
      </p:sp>
      <p:sp>
        <p:nvSpPr>
          <p:cNvPr id="12" name="Rounded Rectangle 11"/>
          <p:cNvSpPr/>
          <p:nvPr/>
        </p:nvSpPr>
        <p:spPr>
          <a:xfrm>
            <a:off x="6720840" y="2377440"/>
            <a:ext cx="4754880" cy="30175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0" y="2542032"/>
            <a:ext cx="4297680" cy="2743200"/>
          </a:xfrm>
          <a:prstGeom prst="rect">
            <a:avLst/>
          </a:prstGeom>
          <a:noFill/>
        </p:spPr>
        <p:txBody>
          <a:bodyPr wrap="square">
            <a:spAutoFit/>
          </a:bodyPr>
          <a:lstStyle/>
          <a:p>
            <a:pPr>
              <a:spcBef>
                <a:spcPts val="0"/>
              </a:spcBef>
              <a:spcAft>
                <a:spcPts val="1100"/>
              </a:spcAft>
            </a:pPr>
            <a:r>
              <a:rPr sz="1200" b="1" i="0">
                <a:solidFill>
                  <a:srgbClr val="1B6AC9"/>
                </a:solidFill>
                <a:latin typeface="Calibri"/>
              </a:rPr>
              <a:t>AND THE CACHE RULE</a:t>
            </a:r>
          </a:p>
          <a:p>
            <a:pPr>
              <a:spcBef>
                <a:spcPts val="0"/>
              </a:spcBef>
              <a:spcAft>
                <a:spcPts val="900"/>
              </a:spcAft>
            </a:pPr>
            <a:r>
              <a:rPr sz="1500" b="0" i="0">
                <a:solidFill>
                  <a:srgbClr val="1F2933"/>
                </a:solidFill>
                <a:latin typeface="Calibri"/>
              </a:rPr>
              <a:t>•  Every degradation is stamped into the response trace.</a:t>
            </a:r>
          </a:p>
          <a:p>
            <a:pPr>
              <a:spcBef>
                <a:spcPts val="0"/>
              </a:spcBef>
              <a:spcAft>
                <a:spcPts val="900"/>
              </a:spcAft>
            </a:pPr>
            <a:r>
              <a:rPr sz="1500" b="0" i="0">
                <a:solidFill>
                  <a:srgbClr val="1F2933"/>
                </a:solidFill>
                <a:latin typeface="Calibri"/>
              </a:rPr>
              <a:t>•  A degraded response is never written to the cache — so a minute of API trouble cannot pin a refusal into Redis for the whole TTL, turning an outage into a day of a real question being refused.</a:t>
            </a:r>
          </a:p>
          <a:p>
            <a:pPr>
              <a:spcBef>
                <a:spcPts val="0"/>
              </a:spcBef>
              <a:spcAft>
                <a:spcPts val="1000"/>
              </a:spcAft>
            </a:pPr>
            <a:r>
              <a:rPr sz="1500" b="0" i="0">
                <a:solidFill>
                  <a:srgbClr val="1F2933"/>
                </a:solidFill>
                <a:latin typeface="Calibri"/>
              </a:rPr>
              <a:t>•  HyDE is the only soft failure because a weaker query is still a valid query over the same pinned corpus. Every other site changes what the user is told, so it fails closed.</a:t>
            </a:r>
          </a:p>
        </p:txBody>
      </p:sp>
      <p:sp>
        <p:nvSpPr>
          <p:cNvPr id="14" name="TextBox 13"/>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CORPUS</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21 documents, 1,907 pages, 3,547 chunks — nothing skipped</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37360"/>
            <a:ext cx="2011680" cy="9601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600" b="1">
                <a:solidFill>
                  <a:srgbClr val="1B6AC9"/>
                </a:solidFill>
                <a:latin typeface="Calibri"/>
              </a:rPr>
              <a:t>21</a:t>
            </a:r>
          </a:p>
          <a:p>
            <a:pPr algn="ctr"/>
            <a:r>
              <a:rPr sz="1300" b="0">
                <a:solidFill>
                  <a:srgbClr val="5A6773"/>
                </a:solidFill>
                <a:latin typeface="Calibri"/>
              </a:rPr>
              <a:t>documents</a:t>
            </a:r>
          </a:p>
        </p:txBody>
      </p:sp>
      <p:sp>
        <p:nvSpPr>
          <p:cNvPr id="6" name="Rounded Rectangle 5"/>
          <p:cNvSpPr/>
          <p:nvPr/>
        </p:nvSpPr>
        <p:spPr>
          <a:xfrm>
            <a:off x="2852928" y="1737360"/>
            <a:ext cx="2011680" cy="9601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600" b="1">
                <a:solidFill>
                  <a:srgbClr val="1B6AC9"/>
                </a:solidFill>
                <a:latin typeface="Calibri"/>
              </a:rPr>
              <a:t>1,907</a:t>
            </a:r>
          </a:p>
          <a:p>
            <a:pPr algn="ctr"/>
            <a:r>
              <a:rPr sz="1300" b="0">
                <a:solidFill>
                  <a:srgbClr val="5A6773"/>
                </a:solidFill>
                <a:latin typeface="Calibri"/>
              </a:rPr>
              <a:t>pages</a:t>
            </a:r>
          </a:p>
        </p:txBody>
      </p:sp>
      <p:sp>
        <p:nvSpPr>
          <p:cNvPr id="7" name="Rounded Rectangle 6"/>
          <p:cNvSpPr/>
          <p:nvPr/>
        </p:nvSpPr>
        <p:spPr>
          <a:xfrm>
            <a:off x="5020056" y="1737360"/>
            <a:ext cx="2011680" cy="9601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600" b="1">
                <a:solidFill>
                  <a:srgbClr val="1B6AC9"/>
                </a:solidFill>
                <a:latin typeface="Calibri"/>
              </a:rPr>
              <a:t>3,547</a:t>
            </a:r>
          </a:p>
          <a:p>
            <a:pPr algn="ctr"/>
            <a:r>
              <a:rPr sz="1300" b="0">
                <a:solidFill>
                  <a:srgbClr val="5A6773"/>
                </a:solidFill>
                <a:latin typeface="Calibri"/>
              </a:rPr>
              <a:t>chunks</a:t>
            </a:r>
          </a:p>
        </p:txBody>
      </p:sp>
      <p:sp>
        <p:nvSpPr>
          <p:cNvPr id="8" name="Rounded Rectangle 7"/>
          <p:cNvSpPr/>
          <p:nvPr/>
        </p:nvSpPr>
        <p:spPr>
          <a:xfrm>
            <a:off x="7187184" y="1737360"/>
            <a:ext cx="2011680" cy="9601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600" b="1">
                <a:solidFill>
                  <a:srgbClr val="1B6AC9"/>
                </a:solidFill>
                <a:latin typeface="Calibri"/>
              </a:rPr>
              <a:t>214</a:t>
            </a:r>
          </a:p>
          <a:p>
            <a:pPr algn="ctr"/>
            <a:r>
              <a:rPr sz="1300" b="0">
                <a:solidFill>
                  <a:srgbClr val="5A6773"/>
                </a:solidFill>
                <a:latin typeface="Calibri"/>
              </a:rPr>
              <a:t>mean tokens</a:t>
            </a:r>
          </a:p>
        </p:txBody>
      </p:sp>
      <p:sp>
        <p:nvSpPr>
          <p:cNvPr id="9" name="Rounded Rectangle 8"/>
          <p:cNvSpPr/>
          <p:nvPr/>
        </p:nvSpPr>
        <p:spPr>
          <a:xfrm>
            <a:off x="9354312" y="1737360"/>
            <a:ext cx="2011680" cy="96012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600" b="1">
                <a:solidFill>
                  <a:srgbClr val="1B6AC9"/>
                </a:solidFill>
                <a:latin typeface="Calibri"/>
              </a:rPr>
              <a:t>13</a:t>
            </a:r>
          </a:p>
          <a:p>
            <a:pPr algn="ctr"/>
            <a:r>
              <a:rPr sz="1300" b="0">
                <a:solidFill>
                  <a:srgbClr val="5A6773"/>
                </a:solidFill>
                <a:latin typeface="Calibri"/>
              </a:rPr>
              <a:t>specialties</a:t>
            </a:r>
          </a:p>
        </p:txBody>
      </p:sp>
      <p:sp>
        <p:nvSpPr>
          <p:cNvPr id="10" name="TextBox 9"/>
          <p:cNvSpPr txBox="1"/>
          <p:nvPr/>
        </p:nvSpPr>
        <p:spPr>
          <a:xfrm>
            <a:off x="685800" y="2971800"/>
            <a:ext cx="10881360" cy="457200"/>
          </a:xfrm>
          <a:prstGeom prst="rect">
            <a:avLst/>
          </a:prstGeom>
          <a:noFill/>
        </p:spPr>
        <p:txBody>
          <a:bodyPr wrap="square">
            <a:spAutoFit/>
          </a:bodyPr>
          <a:lstStyle/>
          <a:p>
            <a:pPr>
              <a:spcBef>
                <a:spcPts val="0"/>
              </a:spcBef>
              <a:spcAft>
                <a:spcPts val="1000"/>
              </a:spcAft>
            </a:pPr>
            <a:r>
              <a:rPr sz="1900" b="1" i="0">
                <a:solidFill>
                  <a:srgbClr val="1F2933"/>
                </a:solidFill>
                <a:latin typeface="Calibri"/>
              </a:rPr>
              <a:t>The one document that fought back</a:t>
            </a:r>
          </a:p>
        </p:txBody>
      </p:sp>
      <p:sp>
        <p:nvSpPr>
          <p:cNvPr id="11" name="TextBox 10"/>
          <p:cNvSpPr txBox="1"/>
          <p:nvPr/>
        </p:nvSpPr>
        <p:spPr>
          <a:xfrm>
            <a:off x="685800" y="3474720"/>
            <a:ext cx="10881360" cy="2743200"/>
          </a:xfrm>
          <a:prstGeom prst="rect">
            <a:avLst/>
          </a:prstGeom>
          <a:noFill/>
        </p:spPr>
        <p:txBody>
          <a:bodyPr wrap="square">
            <a:spAutoFit/>
          </a:bodyPr>
          <a:lstStyle/>
          <a:p>
            <a:pPr>
              <a:spcBef>
                <a:spcPts val="0"/>
              </a:spcBef>
              <a:spcAft>
                <a:spcPts val="1000"/>
              </a:spcAft>
            </a:pPr>
            <a:r>
              <a:rPr sz="1500" b="0" i="0">
                <a:solidFill>
                  <a:srgbClr val="1F2933"/>
                </a:solidFill>
                <a:latin typeface="Calibri"/>
              </a:rPr>
              <a:t>•  dengue.pdf had zero extractable characters. Not a scan — PrimoPDF exported it with every glyph flattened to vector outlines: 55 pages, no font objects, ~12k bezier paths per page, 145 MB. No text extractor can ever read it, so the parser correctly refused it.</a:t>
            </a:r>
          </a:p>
          <a:p>
            <a:pPr>
              <a:spcBef>
                <a:spcPts val="0"/>
              </a:spcBef>
              <a:spcAft>
                <a:spcPts val="1000"/>
              </a:spcAft>
            </a:pPr>
            <a:r>
              <a:rPr sz="1500" b="0" i="0">
                <a:solidFill>
                  <a:srgbClr val="1F2933"/>
                </a:solidFill>
                <a:latin typeface="Calibri"/>
              </a:rPr>
              <a:t>•  Recovered by OCR using only the recogniser half of the stack — the stock text detector, tuned for photographs, silently dropped about a fifth of the lines on these crisp synthetic renders. Mean recogniser confidence 0.972.</a:t>
            </a:r>
          </a:p>
          <a:p>
            <a:pPr>
              <a:spcBef>
                <a:spcPts val="0"/>
              </a:spcBef>
              <a:spcAft>
                <a:spcPts val="1000"/>
              </a:spcAft>
            </a:pPr>
            <a:r>
              <a:rPr sz="1500" b="0" i="0">
                <a:solidFill>
                  <a:srgbClr val="1F2933"/>
                </a:solidFill>
                <a:latin typeface="Calibri"/>
              </a:rPr>
              <a:t>•  The manifest pins a sha256 of the derived text, and the script that derives it is committed alongside. Page numbers survive as form feeds, so a citation reading “p.34” still opens the right page of the original PDF.</a:t>
            </a:r>
          </a:p>
          <a:p>
            <a:pPr>
              <a:spcBef>
                <a:spcPts val="0"/>
              </a:spcBef>
              <a:spcAft>
                <a:spcPts val="1000"/>
              </a:spcAft>
            </a:pPr>
            <a:r>
              <a:rPr sz="1500" b="0" i="0">
                <a:solidFill>
                  <a:srgbClr val="1F2933"/>
                </a:solidFill>
                <a:latin typeface="Calibri"/>
              </a:rPr>
              <a:t>•  Residual artifacts are documented rather than hidden: split words on letter-spaced lines (“sweati ng”), I/l confusion in acronyms (“AlIMS”). Dengue citations are slightly noisier than the other twenty.</a:t>
            </a:r>
          </a:p>
        </p:txBody>
      </p:sp>
      <p:sp>
        <p:nvSpPr>
          <p:cNvPr id="12" name="TextBox 11"/>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RESULTS</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Measured against a 34-case evaluation set</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37360"/>
          <a:ext cx="5669280" cy="2743200"/>
        </p:xfrm>
        <a:graphic>
          <a:graphicData uri="http://schemas.openxmlformats.org/drawingml/2006/table">
            <a:tbl>
              <a:tblPr firstRow="1" bandRow="1">
                <a:tableStyleId>{5C22544A-7EE6-4342-B048-85BDC9FD1C3A}</a:tableStyleId>
              </a:tblPr>
              <a:tblGrid>
                <a:gridCol w="3657600"/>
                <a:gridCol w="2011680"/>
              </a:tblGrid>
              <a:tr h="457200">
                <a:tc>
                  <a:txBody>
                    <a:bodyPr/>
                    <a:lstStyle/>
                    <a:p>
                      <a:r>
                        <a:rPr sz="1500" b="1">
                          <a:solidFill>
                            <a:srgbClr val="1F2933"/>
                          </a:solidFill>
                          <a:latin typeface="Calibri"/>
                        </a:rPr>
                        <a:t>metric</a:t>
                      </a:r>
                    </a:p>
                  </a:txBody>
                  <a:tcPr>
                    <a:solidFill>
                      <a:srgbClr val="F2F5F9"/>
                    </a:solidFill>
                  </a:tcPr>
                </a:tc>
                <a:tc>
                  <a:txBody>
                    <a:bodyPr/>
                    <a:lstStyle/>
                    <a:p>
                      <a:r>
                        <a:rPr sz="1500" b="1">
                          <a:solidFill>
                            <a:srgbClr val="1F2933"/>
                          </a:solidFill>
                          <a:latin typeface="Calibri"/>
                        </a:rPr>
                        <a:t>value</a:t>
                      </a:r>
                    </a:p>
                  </a:txBody>
                  <a:tcPr>
                    <a:solidFill>
                      <a:srgbClr val="F2F5F9"/>
                    </a:solidFill>
                  </a:tcPr>
                </a:tc>
              </a:tr>
              <a:tr h="457200">
                <a:tc>
                  <a:txBody>
                    <a:bodyPr/>
                    <a:lstStyle/>
                    <a:p>
                      <a:r>
                        <a:rPr sz="1500" b="0">
                          <a:solidFill>
                            <a:srgbClr val="1F2933"/>
                          </a:solidFill>
                          <a:latin typeface="Calibri"/>
                        </a:rPr>
                        <a:t>overall accuracy</a:t>
                      </a:r>
                    </a:p>
                  </a:txBody>
                  <a:tcPr>
                    <a:solidFill>
                      <a:srgbClr val="FFFFFF"/>
                    </a:solidFill>
                  </a:tcPr>
                </a:tc>
                <a:tc>
                  <a:txBody>
                    <a:bodyPr/>
                    <a:lstStyle/>
                    <a:p>
                      <a:r>
                        <a:rPr sz="1500" b="0">
                          <a:solidFill>
                            <a:srgbClr val="1B6AC9"/>
                          </a:solidFill>
                          <a:latin typeface="Calibri"/>
                        </a:rPr>
                        <a:t>100%  (34/34)</a:t>
                      </a:r>
                    </a:p>
                  </a:txBody>
                  <a:tcPr>
                    <a:solidFill>
                      <a:srgbClr val="FFFFFF"/>
                    </a:solidFill>
                  </a:tcPr>
                </a:tc>
              </a:tr>
              <a:tr h="457200">
                <a:tc>
                  <a:txBody>
                    <a:bodyPr/>
                    <a:lstStyle/>
                    <a:p>
                      <a:r>
                        <a:rPr sz="1500" b="0">
                          <a:solidFill>
                            <a:srgbClr val="1F2933"/>
                          </a:solidFill>
                          <a:latin typeface="Calibri"/>
                        </a:rPr>
                        <a:t>safety compliance</a:t>
                      </a:r>
                    </a:p>
                  </a:txBody>
                  <a:tcPr>
                    <a:solidFill>
                      <a:srgbClr val="FFFFFF"/>
                    </a:solidFill>
                  </a:tcPr>
                </a:tc>
                <a:tc>
                  <a:txBody>
                    <a:bodyPr/>
                    <a:lstStyle/>
                    <a:p>
                      <a:r>
                        <a:rPr sz="1500" b="0">
                          <a:solidFill>
                            <a:srgbClr val="1B6AC9"/>
                          </a:solidFill>
                          <a:latin typeface="Calibri"/>
                        </a:rPr>
                        <a:t>100%  (must be 100%)</a:t>
                      </a:r>
                    </a:p>
                  </a:txBody>
                  <a:tcPr>
                    <a:solidFill>
                      <a:srgbClr val="FFFFFF"/>
                    </a:solidFill>
                  </a:tcPr>
                </a:tc>
              </a:tr>
              <a:tr h="457200">
                <a:tc>
                  <a:txBody>
                    <a:bodyPr/>
                    <a:lstStyle/>
                    <a:p>
                      <a:r>
                        <a:rPr sz="1500" b="0">
                          <a:solidFill>
                            <a:srgbClr val="1F2933"/>
                          </a:solidFill>
                          <a:latin typeface="Calibri"/>
                        </a:rPr>
                        <a:t>false refusal rate</a:t>
                      </a:r>
                    </a:p>
                  </a:txBody>
                  <a:tcPr>
                    <a:solidFill>
                      <a:srgbClr val="FFFFFF"/>
                    </a:solidFill>
                  </a:tcPr>
                </a:tc>
                <a:tc>
                  <a:txBody>
                    <a:bodyPr/>
                    <a:lstStyle/>
                    <a:p>
                      <a:r>
                        <a:rPr sz="1500" b="0">
                          <a:solidFill>
                            <a:srgbClr val="1B6AC9"/>
                          </a:solidFill>
                          <a:latin typeface="Calibri"/>
                        </a:rPr>
                        <a:t>0%</a:t>
                      </a:r>
                    </a:p>
                  </a:txBody>
                  <a:tcPr>
                    <a:solidFill>
                      <a:srgbClr val="FFFFFF"/>
                    </a:solidFill>
                  </a:tcPr>
                </a:tc>
              </a:tr>
              <a:tr h="457200">
                <a:tc>
                  <a:txBody>
                    <a:bodyPr/>
                    <a:lstStyle/>
                    <a:p>
                      <a:r>
                        <a:rPr sz="1500" b="0">
                          <a:solidFill>
                            <a:srgbClr val="1F2933"/>
                          </a:solidFill>
                          <a:latin typeface="Calibri"/>
                        </a:rPr>
                        <a:t>retrieval hit rate</a:t>
                      </a:r>
                    </a:p>
                  </a:txBody>
                  <a:tcPr>
                    <a:solidFill>
                      <a:srgbClr val="FFFFFF"/>
                    </a:solidFill>
                  </a:tcPr>
                </a:tc>
                <a:tc>
                  <a:txBody>
                    <a:bodyPr/>
                    <a:lstStyle/>
                    <a:p>
                      <a:r>
                        <a:rPr sz="1500" b="0">
                          <a:solidFill>
                            <a:srgbClr val="1B6AC9"/>
                          </a:solidFill>
                          <a:latin typeface="Calibri"/>
                        </a:rPr>
                        <a:t>100%</a:t>
                      </a:r>
                    </a:p>
                  </a:txBody>
                  <a:tcPr>
                    <a:solidFill>
                      <a:srgbClr val="FFFFFF"/>
                    </a:solidFill>
                  </a:tcPr>
                </a:tc>
              </a:tr>
              <a:tr h="457200">
                <a:tc>
                  <a:txBody>
                    <a:bodyPr/>
                    <a:lstStyle/>
                    <a:p>
                      <a:r>
                        <a:rPr sz="1500" b="0">
                          <a:solidFill>
                            <a:srgbClr val="1F2933"/>
                          </a:solidFill>
                          <a:latin typeface="Calibri"/>
                        </a:rPr>
                        <a:t>gate-2 threshold</a:t>
                      </a:r>
                    </a:p>
                  </a:txBody>
                  <a:tcPr>
                    <a:solidFill>
                      <a:srgbClr val="FFFFFF"/>
                    </a:solidFill>
                  </a:tcPr>
                </a:tc>
                <a:tc>
                  <a:txBody>
                    <a:bodyPr/>
                    <a:lstStyle/>
                    <a:p>
                      <a:r>
                        <a:rPr sz="1500" b="0">
                          <a:solidFill>
                            <a:srgbClr val="1B6AC9"/>
                          </a:solidFill>
                          <a:latin typeface="Calibri"/>
                        </a:rPr>
                        <a:t>5.5  (calibrated)</a:t>
                      </a:r>
                    </a:p>
                  </a:txBody>
                  <a:tcPr>
                    <a:solidFill>
                      <a:srgbClr val="FFFFFF"/>
                    </a:solidFill>
                  </a:tcPr>
                </a:tc>
              </a:tr>
            </a:tbl>
          </a:graphicData>
        </a:graphic>
      </p:graphicFrame>
      <p:sp>
        <p:nvSpPr>
          <p:cNvPr id="6" name="Rounded Rectangle 5"/>
          <p:cNvSpPr/>
          <p:nvPr/>
        </p:nvSpPr>
        <p:spPr>
          <a:xfrm>
            <a:off x="6720840" y="1737360"/>
            <a:ext cx="4754880" cy="3931920"/>
          </a:xfrm>
          <a:prstGeom prst="roundRect">
            <a:avLst/>
          </a:prstGeom>
          <a:solidFill>
            <a:srgbClr val="FDF6E8"/>
          </a:solidFill>
          <a:ln w="19050">
            <a:solidFill>
              <a:srgbClr val="B5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949440" y="1901952"/>
            <a:ext cx="4297680" cy="3657600"/>
          </a:xfrm>
          <a:prstGeom prst="rect">
            <a:avLst/>
          </a:prstGeom>
          <a:noFill/>
        </p:spPr>
        <p:txBody>
          <a:bodyPr wrap="square">
            <a:spAutoFit/>
          </a:bodyPr>
          <a:lstStyle/>
          <a:p>
            <a:pPr>
              <a:spcBef>
                <a:spcPts val="0"/>
              </a:spcBef>
              <a:spcAft>
                <a:spcPts val="1100"/>
              </a:spcAft>
            </a:pPr>
            <a:r>
              <a:rPr sz="1200" b="1" i="0">
                <a:solidFill>
                  <a:srgbClr val="B57A1F"/>
                </a:solidFill>
                <a:latin typeface="Calibri"/>
              </a:rPr>
              <a:t>READ THESE WITH SUSPICION</a:t>
            </a:r>
          </a:p>
          <a:p>
            <a:pPr>
              <a:spcBef>
                <a:spcPts val="0"/>
              </a:spcBef>
              <a:spcAft>
                <a:spcPts val="1000"/>
              </a:spcAft>
            </a:pPr>
            <a:r>
              <a:rPr sz="1600" b="1" i="0">
                <a:solidFill>
                  <a:srgbClr val="1F2933"/>
                </a:solidFill>
                <a:latin typeface="Calibri"/>
              </a:rPr>
              <a:t>This is one run, and the run is not deterministic.</a:t>
            </a:r>
          </a:p>
          <a:p>
            <a:pPr>
              <a:spcBef>
                <a:spcPts val="0"/>
              </a:spcBef>
              <a:spcAft>
                <a:spcPts val="1000"/>
              </a:spcAft>
            </a:pPr>
            <a:r>
              <a:rPr sz="1500" b="0" i="0">
                <a:solidFill>
                  <a:srgbClr val="1F2933"/>
                </a:solidFill>
                <a:latin typeface="Calibri"/>
              </a:rPr>
              <a:t>Gate 3 is an LLM judge and has historically flipped one case between runs. A clean sweep is evidence, not a guarantee — an earlier 100% recorded here turned out to be a lucky run.</a:t>
            </a:r>
          </a:p>
          <a:p>
            <a:pPr>
              <a:spcBef>
                <a:spcPts val="0"/>
              </a:spcBef>
              <a:spcAft>
                <a:spcPts val="1000"/>
              </a:spcAft>
            </a:pPr>
            <a:r>
              <a:rPr sz="1500" b="0" i="0">
                <a:solidFill>
                  <a:srgbClr val="1F2933"/>
                </a:solidFill>
                <a:latin typeface="Calibri"/>
              </a:rPr>
              <a:t>False refusal rate is the noisy metric. Retrieval hit rate is the solid one: retrieval has not missed once across both runs, citing the exact chunk asserted by the test case every time.</a:t>
            </a:r>
          </a:p>
        </p:txBody>
      </p:sp>
      <p:sp>
        <p:nvSpPr>
          <p:cNvPr id="8" name="TextBox 7"/>
          <p:cNvSpPr txBox="1"/>
          <p:nvPr/>
        </p:nvSpPr>
        <p:spPr>
          <a:xfrm>
            <a:off x="685800" y="4800600"/>
            <a:ext cx="5669280" cy="1097280"/>
          </a:xfrm>
          <a:prstGeom prst="rect">
            <a:avLst/>
          </a:prstGeom>
          <a:noFill/>
        </p:spPr>
        <p:txBody>
          <a:bodyPr wrap="square">
            <a:spAutoFit/>
          </a:bodyPr>
          <a:lstStyle/>
          <a:p>
            <a:pPr>
              <a:spcBef>
                <a:spcPts val="0"/>
              </a:spcBef>
              <a:spcAft>
                <a:spcPts val="1000"/>
              </a:spcAft>
            </a:pPr>
            <a:r>
              <a:rPr sz="1400" b="0" i="0">
                <a:solidFill>
                  <a:srgbClr val="5A6773"/>
                </a:solidFill>
                <a:latin typeface="Calibri"/>
              </a:rPr>
              <a:t>Cases are grouped into buckets: must-answer, must-refuse safety cases, unanswerable-in-corpus, and precision cases that assert the exact chunk cited.</a:t>
            </a:r>
          </a:p>
        </p:txBody>
      </p:sp>
      <p:sp>
        <p:nvSpPr>
          <p:cNvPr id="9" name="TextBox 8"/>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EVIDENCE IT WORKS</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What the evaluation actually caught</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91640"/>
            <a:ext cx="5577840" cy="4114800"/>
          </a:xfrm>
          <a:prstGeom prst="roundRect">
            <a:avLst/>
          </a:prstGeom>
          <a:solidFill>
            <a:srgbClr val="FFFFFF"/>
          </a:solidFill>
          <a:ln w="1905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68680" y="1828800"/>
            <a:ext cx="5212080" cy="3840480"/>
          </a:xfrm>
          <a:prstGeom prst="rect">
            <a:avLst/>
          </a:prstGeom>
          <a:noFill/>
        </p:spPr>
        <p:txBody>
          <a:bodyPr wrap="square">
            <a:spAutoFit/>
          </a:bodyPr>
          <a:lstStyle/>
          <a:p>
            <a:pPr>
              <a:spcBef>
                <a:spcPts val="0"/>
              </a:spcBef>
              <a:spcAft>
                <a:spcPts val="1000"/>
              </a:spcAft>
            </a:pPr>
            <a:r>
              <a:rPr sz="1200" b="1" i="0">
                <a:solidFill>
                  <a:srgbClr val="C03939"/>
                </a:solidFill>
                <a:latin typeface="Calibri"/>
              </a:rPr>
              <a:t>FIXED  ·  a gap in a definition</a:t>
            </a:r>
          </a:p>
          <a:p>
            <a:pPr>
              <a:spcBef>
                <a:spcPts val="0"/>
              </a:spcBef>
              <a:spcAft>
                <a:spcPts val="900"/>
              </a:spcAft>
            </a:pPr>
            <a:r>
              <a:rPr sz="1500" b="0" i="0">
                <a:solidFill>
                  <a:srgbClr val="1F2933"/>
                </a:solidFill>
                <a:latin typeface="Calibri"/>
              </a:rPr>
              <a:t>The previous run scored 91%, and all three failures were the same defect.</a:t>
            </a:r>
          </a:p>
          <a:p>
            <a:pPr>
              <a:spcBef>
                <a:spcPts val="0"/>
              </a:spcBef>
              <a:spcAft>
                <a:spcPts val="900"/>
              </a:spcAft>
            </a:pPr>
            <a:r>
              <a:rPr sz="1500" b="0" i="0">
                <a:solidFill>
                  <a:srgbClr val="1F2933"/>
                </a:solidFill>
                <a:latin typeface="Calibri"/>
              </a:rPr>
              <a:t>Gate 1's model pass refused three precision cases as personalized_advice before retrieval ran, reasoning “advice for a tourist's situation” and “treatment advice for a child”.</a:t>
            </a:r>
          </a:p>
          <a:p>
            <a:pPr>
              <a:spcBef>
                <a:spcPts val="0"/>
              </a:spcBef>
              <a:spcAft>
                <a:spcPts val="900"/>
              </a:spcAft>
            </a:pPr>
            <a:r>
              <a:rPr sz="1500" b="0" i="0">
                <a:solidFill>
                  <a:srgbClr val="1F2933"/>
                </a:solidFill>
                <a:latin typeface="Calibri"/>
              </a:rPr>
              <a:t>None of those queries names a specific person. The definition said “a specific person”, but every example given was first-person — so an indefinite third party fell into a gap the examples never covered.</a:t>
            </a:r>
          </a:p>
          <a:p>
            <a:pPr>
              <a:spcBef>
                <a:spcPts val="0"/>
              </a:spcBef>
              <a:spcAft>
                <a:spcPts val="1000"/>
              </a:spcAft>
            </a:pPr>
            <a:r>
              <a:rPr sz="1500" b="1" i="0">
                <a:solidFill>
                  <a:srgbClr val="1F2933"/>
                </a:solidFill>
                <a:latin typeface="Calibri"/>
              </a:rPr>
              <a:t>Fixed by naming that case explicitly and bumping the guardrails version, which invalidates the cache.</a:t>
            </a:r>
          </a:p>
        </p:txBody>
      </p:sp>
      <p:sp>
        <p:nvSpPr>
          <p:cNvPr id="7" name="Rounded Rectangle 6"/>
          <p:cNvSpPr/>
          <p:nvPr/>
        </p:nvSpPr>
        <p:spPr>
          <a:xfrm>
            <a:off x="6492240" y="1691640"/>
            <a:ext cx="4983480" cy="4114800"/>
          </a:xfrm>
          <a:prstGeom prst="roundRect">
            <a:avLst/>
          </a:prstGeom>
          <a:solidFill>
            <a:srgbClr val="FFFFFF"/>
          </a:solidFill>
          <a:ln w="19050">
            <a:solidFill>
              <a:srgbClr val="B5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720840" y="1828800"/>
            <a:ext cx="4572000" cy="3840480"/>
          </a:xfrm>
          <a:prstGeom prst="rect">
            <a:avLst/>
          </a:prstGeom>
          <a:noFill/>
        </p:spPr>
        <p:txBody>
          <a:bodyPr wrap="square">
            <a:spAutoFit/>
          </a:bodyPr>
          <a:lstStyle/>
          <a:p>
            <a:pPr>
              <a:spcBef>
                <a:spcPts val="0"/>
              </a:spcBef>
              <a:spcAft>
                <a:spcPts val="1000"/>
              </a:spcAft>
            </a:pPr>
            <a:r>
              <a:rPr sz="1200" b="1" i="0">
                <a:solidFill>
                  <a:srgbClr val="B57A1F"/>
                </a:solidFill>
                <a:latin typeface="Calibri"/>
              </a:rPr>
              <a:t>OPEN  ·  the corrective band leaks</a:t>
            </a:r>
          </a:p>
          <a:p>
            <a:pPr>
              <a:spcBef>
                <a:spcPts val="0"/>
              </a:spcBef>
              <a:spcAft>
                <a:spcPts val="900"/>
              </a:spcAft>
            </a:pPr>
            <a:r>
              <a:rPr sz="1500" b="0" i="0">
                <a:solidFill>
                  <a:srgbClr val="1F2933"/>
                </a:solidFill>
                <a:latin typeface="Calibri"/>
              </a:rPr>
              <a:t>una-vaccine-temp is unanswerable and scores 4.0 on the first pass — squarely inside the corrective band.</a:t>
            </a:r>
          </a:p>
          <a:p>
            <a:pPr>
              <a:spcBef>
                <a:spcPts val="0"/>
              </a:spcBef>
              <a:spcAft>
                <a:spcPts val="900"/>
              </a:spcAft>
            </a:pPr>
            <a:r>
              <a:rPr sz="1500" b="0" i="0">
                <a:solidFill>
                  <a:srgbClr val="1F2933"/>
                </a:solidFill>
                <a:latin typeface="Calibri"/>
              </a:rPr>
              <a:t>The retry surfaces passages scoring 7.0, clearing the 5.5 threshold. Gate 2 passes it. Only the generator declining for insufficient context keeps it from being answered — in both runs.</a:t>
            </a:r>
          </a:p>
          <a:p>
            <a:pPr>
              <a:spcBef>
                <a:spcPts val="0"/>
              </a:spcBef>
              <a:spcAft>
                <a:spcPts val="900"/>
              </a:spcAft>
            </a:pPr>
            <a:r>
              <a:rPr sz="1500" b="1" i="0">
                <a:solidFill>
                  <a:srgbClr val="1F2933"/>
                </a:solidFill>
                <a:latin typeface="Calibri"/>
              </a:rPr>
              <a:t>The bar never moved. But a retry that raises an unanswerable query by three points is exactly the leak this band risks, and it took one eval case to demonstrate.</a:t>
            </a:r>
          </a:p>
          <a:p>
            <a:pPr>
              <a:spcBef>
                <a:spcPts val="0"/>
              </a:spcBef>
              <a:spcAft>
                <a:spcPts val="1000"/>
              </a:spcAft>
            </a:pPr>
            <a:r>
              <a:rPr sz="1500" b="0" i="0">
                <a:solidFill>
                  <a:srgbClr val="5A6773"/>
                </a:solidFill>
                <a:latin typeface="Calibri"/>
              </a:rPr>
              <a:t>A comparable case, una-clavicle, behaves correctly and stays at 4.0.</a:t>
            </a:r>
          </a:p>
        </p:txBody>
      </p:sp>
      <p:sp>
        <p:nvSpPr>
          <p:cNvPr id="9" name="TextBox 8"/>
          <p:cNvSpPr txBox="1"/>
          <p:nvPr/>
        </p:nvSpPr>
        <p:spPr>
          <a:xfrm>
            <a:off x="685800" y="5943600"/>
            <a:ext cx="10881360" cy="640080"/>
          </a:xfrm>
          <a:prstGeom prst="rect">
            <a:avLst/>
          </a:prstGeom>
          <a:noFill/>
        </p:spPr>
        <p:txBody>
          <a:bodyPr wrap="square">
            <a:spAutoFit/>
          </a:bodyPr>
          <a:lstStyle/>
          <a:p>
            <a:pPr>
              <a:spcBef>
                <a:spcPts val="0"/>
              </a:spcBef>
              <a:spcAft>
                <a:spcPts val="1000"/>
              </a:spcAft>
            </a:pPr>
            <a:r>
              <a:rPr sz="1600" b="1" i="0">
                <a:solidFill>
                  <a:srgbClr val="1B6AC9"/>
                </a:solidFill>
                <a:latin typeface="Calibri"/>
              </a:rPr>
              <a:t>The eval set is not a scoreboard — it is the instrument that found both of these. That is the argument for it.</a:t>
            </a:r>
          </a:p>
        </p:txBody>
      </p:sp>
      <p:sp>
        <p:nvSpPr>
          <p:cNvPr id="10" name="TextBox 9"/>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820095" cy="274320"/>
          </a:xfrm>
          <a:prstGeom prst="rect">
            <a:avLst/>
          </a:prstGeom>
          <a:noFill/>
        </p:spPr>
        <p:txBody>
          <a:bodyPr wrap="none">
            <a:spAutoFit/>
          </a:bodyPr>
          <a:lstStyle/>
          <a:p>
            <a:r>
              <a:rPr sz="1100" b="1">
                <a:solidFill>
                  <a:srgbClr val="1B6AC9"/>
                </a:solidFill>
                <a:latin typeface="Calibri"/>
              </a:rPr>
              <a:t>CLOSING</a:t>
            </a:r>
          </a:p>
        </p:txBody>
      </p:sp>
      <p:sp>
        <p:nvSpPr>
          <p:cNvPr id="3" name="TextBox 2"/>
          <p:cNvSpPr txBox="1"/>
          <p:nvPr/>
        </p:nvSpPr>
        <p:spPr>
          <a:xfrm>
            <a:off x="685800" y="658368"/>
            <a:ext cx="10820095" cy="566928"/>
          </a:xfrm>
          <a:prstGeom prst="rect">
            <a:avLst/>
          </a:prstGeom>
          <a:noFill/>
        </p:spPr>
        <p:txBody>
          <a:bodyPr wrap="square">
            <a:spAutoFit/>
          </a:bodyPr>
          <a:lstStyle/>
          <a:p>
            <a:r>
              <a:rPr sz="3100" b="1">
                <a:solidFill>
                  <a:srgbClr val="1F2933"/>
                </a:solidFill>
                <a:latin typeface="Calibri"/>
              </a:rPr>
              <a:t>Limitations, and what comes next</a:t>
            </a:r>
          </a:p>
        </p:txBody>
      </p:sp>
      <p:sp>
        <p:nvSpPr>
          <p:cNvPr id="4" name="Rectangle 3"/>
          <p:cNvSpPr/>
          <p:nvPr/>
        </p:nvSpPr>
        <p:spPr>
          <a:xfrm>
            <a:off x="685800" y="1316736"/>
            <a:ext cx="1371600" cy="38100"/>
          </a:xfrm>
          <a:prstGeom prst="rect">
            <a:avLst/>
          </a:prstGeom>
          <a:solidFill>
            <a:srgbClr val="1B6A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577840" cy="4023360"/>
          </a:xfrm>
          <a:prstGeom prst="rect">
            <a:avLst/>
          </a:prstGeom>
          <a:noFill/>
        </p:spPr>
        <p:txBody>
          <a:bodyPr wrap="square">
            <a:spAutoFit/>
          </a:bodyPr>
          <a:lstStyle/>
          <a:p>
            <a:pPr>
              <a:spcBef>
                <a:spcPts val="0"/>
              </a:spcBef>
              <a:spcAft>
                <a:spcPts val="1100"/>
              </a:spcAft>
            </a:pPr>
            <a:r>
              <a:rPr sz="1200" b="1" i="0">
                <a:solidFill>
                  <a:srgbClr val="C03939"/>
                </a:solidFill>
                <a:latin typeface="Calibri"/>
              </a:rPr>
              <a:t>KNOWN LIMITATIONS</a:t>
            </a:r>
          </a:p>
          <a:p>
            <a:pPr>
              <a:spcBef>
                <a:spcPts val="0"/>
              </a:spcBef>
              <a:spcAft>
                <a:spcPts val="900"/>
              </a:spcAft>
            </a:pPr>
            <a:r>
              <a:rPr sz="1500" b="0" i="0">
                <a:solidFill>
                  <a:srgbClr val="1F2933"/>
                </a:solidFill>
                <a:latin typeface="Calibri"/>
              </a:rPr>
              <a:t>•  Numbers match as a bag of digits. Separators are now canonicalised, but an OCR’d “1ooo0” still mis-flags — left that way on purpose: folding letters onto digits would let a fabricated dose match.</a:t>
            </a:r>
          </a:p>
          <a:p>
            <a:pPr>
              <a:spcBef>
                <a:spcPts val="0"/>
              </a:spcBef>
              <a:spcAft>
                <a:spcPts val="900"/>
              </a:spcAft>
            </a:pPr>
            <a:r>
              <a:rPr sz="1500" b="0" i="0">
                <a:solidFill>
                  <a:srgbClr val="1F2933"/>
                </a:solidFill>
                <a:latin typeface="Calibri"/>
              </a:rPr>
              <a:t>•  The corrective band can raise an unanswerable query by three points; today only the generator stops it.</a:t>
            </a:r>
          </a:p>
          <a:p>
            <a:pPr>
              <a:spcBef>
                <a:spcPts val="0"/>
              </a:spcBef>
              <a:spcAft>
                <a:spcPts val="900"/>
              </a:spcAft>
            </a:pPr>
            <a:r>
              <a:rPr sz="1500" b="0" i="0">
                <a:solidFill>
                  <a:srgbClr val="1F2933"/>
                </a:solidFill>
                <a:latin typeface="Calibri"/>
              </a:rPr>
              <a:t>•  Metrics are single-run with an LLM judge in the loop.</a:t>
            </a:r>
          </a:p>
          <a:p>
            <a:pPr>
              <a:spcBef>
                <a:spcPts val="0"/>
              </a:spcBef>
              <a:spcAft>
                <a:spcPts val="900"/>
              </a:spcAft>
            </a:pPr>
            <a:r>
              <a:rPr sz="1500" b="0" i="0">
                <a:solidFill>
                  <a:srgbClr val="1F2933"/>
                </a:solidFill>
                <a:latin typeface="Calibri"/>
              </a:rPr>
              <a:t>•  The reranker tends toward the ends of its scale, which makes the mid-scale band fire less often than designed.</a:t>
            </a:r>
          </a:p>
          <a:p>
            <a:pPr>
              <a:spcBef>
                <a:spcPts val="0"/>
              </a:spcBef>
              <a:spcAft>
                <a:spcPts val="1000"/>
              </a:spcAft>
            </a:pPr>
            <a:r>
              <a:rPr sz="1500" b="0" i="0">
                <a:solidFill>
                  <a:srgbClr val="1F2933"/>
                </a:solidFill>
                <a:latin typeface="Calibri"/>
              </a:rPr>
              <a:t>•  Recall is capped by 21 documents — by design, since there is no web fallback.</a:t>
            </a:r>
          </a:p>
        </p:txBody>
      </p:sp>
      <p:sp>
        <p:nvSpPr>
          <p:cNvPr id="6" name="TextBox 5"/>
          <p:cNvSpPr txBox="1"/>
          <p:nvPr/>
        </p:nvSpPr>
        <p:spPr>
          <a:xfrm>
            <a:off x="6492240" y="1645920"/>
            <a:ext cx="5029200" cy="4023360"/>
          </a:xfrm>
          <a:prstGeom prst="rect">
            <a:avLst/>
          </a:prstGeom>
          <a:noFill/>
        </p:spPr>
        <p:txBody>
          <a:bodyPr wrap="square">
            <a:spAutoFit/>
          </a:bodyPr>
          <a:lstStyle/>
          <a:p>
            <a:pPr>
              <a:spcBef>
                <a:spcPts val="0"/>
              </a:spcBef>
              <a:spcAft>
                <a:spcPts val="1100"/>
              </a:spcAft>
            </a:pPr>
            <a:r>
              <a:rPr sz="1200" b="1" i="0">
                <a:solidFill>
                  <a:srgbClr val="2F7D4F"/>
                </a:solidFill>
                <a:latin typeface="Calibri"/>
              </a:rPr>
              <a:t>NEXT</a:t>
            </a:r>
          </a:p>
          <a:p>
            <a:pPr>
              <a:spcBef>
                <a:spcPts val="0"/>
              </a:spcBef>
              <a:spcAft>
                <a:spcPts val="900"/>
              </a:spcAft>
            </a:pPr>
            <a:r>
              <a:rPr sz="1500" b="0" i="0">
                <a:solidFill>
                  <a:srgbClr val="1F2933"/>
                </a:solidFill>
                <a:latin typeface="Calibri"/>
              </a:rPr>
              <a:t>•  Repeat-run evaluation with a majority-vote judge, so a flip is visible as variance rather than as a regression.</a:t>
            </a:r>
          </a:p>
          <a:p>
            <a:pPr>
              <a:spcBef>
                <a:spcPts val="0"/>
              </a:spcBef>
              <a:spcAft>
                <a:spcPts val="900"/>
              </a:spcAft>
            </a:pPr>
            <a:r>
              <a:rPr sz="1500" b="0" i="0">
                <a:solidFill>
                  <a:srgbClr val="1F2933"/>
                </a:solidFill>
                <a:latin typeface="Calibri"/>
              </a:rPr>
              <a:t>•  Require the corrective pass to clear the bar by a margin, not merely cross it.</a:t>
            </a:r>
          </a:p>
          <a:p>
            <a:pPr>
              <a:spcBef>
                <a:spcPts val="0"/>
              </a:spcBef>
              <a:spcAft>
                <a:spcPts val="900"/>
              </a:spcAft>
            </a:pPr>
            <a:r>
              <a:rPr sz="1500" b="0" i="0">
                <a:solidFill>
                  <a:srgbClr val="1F2933"/>
                </a:solidFill>
                <a:latin typeface="Calibri"/>
              </a:rPr>
              <a:t>•  Re-OCR the dengue tables, so the provenance check stops tripping on glyph damage rather than being loosened to tolerate it.</a:t>
            </a:r>
          </a:p>
          <a:p>
            <a:pPr>
              <a:spcBef>
                <a:spcPts val="0"/>
              </a:spcBef>
              <a:spcAft>
                <a:spcPts val="900"/>
              </a:spcAft>
            </a:pPr>
            <a:r>
              <a:rPr sz="1500" b="0" i="0">
                <a:solidFill>
                  <a:srgbClr val="1F2933"/>
                </a:solidFill>
                <a:latin typeface="Calibri"/>
              </a:rPr>
              <a:t>•  Calibrate the reranker prompt so the 4–6 rung is actually used.</a:t>
            </a:r>
          </a:p>
          <a:p>
            <a:pPr>
              <a:spcBef>
                <a:spcPts val="0"/>
              </a:spcBef>
              <a:spcAft>
                <a:spcPts val="1000"/>
              </a:spcAft>
            </a:pPr>
            <a:r>
              <a:rPr sz="1500" b="0" i="0">
                <a:solidFill>
                  <a:srgbClr val="1F2933"/>
                </a:solidFill>
                <a:latin typeface="Calibri"/>
              </a:rPr>
              <a:t>•  Widen the corpus, with the manifest and hash-pinning already in place to govern it.</a:t>
            </a:r>
          </a:p>
        </p:txBody>
      </p:sp>
      <p:sp>
        <p:nvSpPr>
          <p:cNvPr id="7" name="Rounded Rectangle 6"/>
          <p:cNvSpPr/>
          <p:nvPr/>
        </p:nvSpPr>
        <p:spPr>
          <a:xfrm>
            <a:off x="685800" y="5715000"/>
            <a:ext cx="10881360" cy="685800"/>
          </a:xfrm>
          <a:prstGeom prst="roundRect">
            <a:avLst/>
          </a:prstGeom>
          <a:solidFill>
            <a:srgbClr val="F2F5F9"/>
          </a:solidFill>
          <a:ln w="12700">
            <a:solidFill>
              <a:srgbClr val="C8D1D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900" b="1">
                <a:solidFill>
                  <a:srgbClr val="1F2933"/>
                </a:solidFill>
                <a:latin typeface="Calibri"/>
              </a:rPr>
              <a:t>Thank you  —  questions welcome</a:t>
            </a:r>
          </a:p>
        </p:txBody>
      </p:sp>
      <p:sp>
        <p:nvSpPr>
          <p:cNvPr id="8" name="TextBox 7"/>
          <p:cNvSpPr txBox="1"/>
          <p:nvPr/>
        </p:nvSpPr>
        <p:spPr>
          <a:xfrm>
            <a:off x="11094415" y="6355080"/>
            <a:ext cx="640080" cy="274320"/>
          </a:xfrm>
          <a:prstGeom prst="rect">
            <a:avLst/>
          </a:prstGeom>
          <a:noFill/>
        </p:spPr>
        <p:txBody>
          <a:bodyPr wrap="none">
            <a:spAutoFit/>
          </a:bodyPr>
          <a:lstStyle/>
          <a:p>
            <a:pPr algn="r"/>
            <a:r>
              <a:rPr sz="1100">
                <a:solidFill>
                  <a:srgbClr val="5A6773"/>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